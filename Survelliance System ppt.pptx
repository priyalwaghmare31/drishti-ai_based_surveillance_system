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85" r:id="rId11"/>
    <p:sldId id="265" r:id="rId12"/>
    <p:sldId id="266" r:id="rId13"/>
    <p:sldId id="283" r:id="rId14"/>
    <p:sldId id="267" r:id="rId15"/>
    <p:sldId id="291" r:id="rId16"/>
    <p:sldId id="268" r:id="rId17"/>
    <p:sldId id="288" r:id="rId18"/>
    <p:sldId id="289" r:id="rId19"/>
    <p:sldId id="290" r:id="rId20"/>
    <p:sldId id="269" r:id="rId21"/>
    <p:sldId id="270" r:id="rId22"/>
    <p:sldId id="287" r:id="rId23"/>
    <p:sldId id="273" r:id="rId24"/>
    <p:sldId id="274" r:id="rId25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>
      <p:cViewPr varScale="1">
        <p:scale>
          <a:sx n="84" d="100"/>
          <a:sy n="84" d="100"/>
        </p:scale>
        <p:origin x="624" y="4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1">
                <a:solidFill>
                  <a:srgbClr val="0C0C0C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360"/>
              </a:lnSpc>
            </a:pPr>
            <a:r>
              <a:rPr spc="-140" dirty="0"/>
              <a:t>18</a:t>
            </a:r>
            <a:r>
              <a:rPr spc="-65" dirty="0"/>
              <a:t> </a:t>
            </a:r>
            <a:r>
              <a:rPr spc="-20" dirty="0"/>
              <a:t>August</a:t>
            </a:r>
            <a:r>
              <a:rPr spc="-40" dirty="0"/>
              <a:t> </a:t>
            </a:r>
            <a:r>
              <a:rPr spc="-20" dirty="0"/>
              <a:t>2023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200" b="0" i="1">
                <a:solidFill>
                  <a:srgbClr val="0C0C0C"/>
                </a:solidFill>
                <a:latin typeface="Arial"/>
                <a:cs typeface="Arial"/>
              </a:defRPr>
            </a:lvl1pPr>
          </a:lstStyle>
          <a:p>
            <a:pPr algn="ctr">
              <a:lnSpc>
                <a:spcPts val="1360"/>
              </a:lnSpc>
            </a:pPr>
            <a:r>
              <a:rPr dirty="0"/>
              <a:t>Department</a:t>
            </a:r>
            <a:r>
              <a:rPr spc="-40" dirty="0"/>
              <a:t> </a:t>
            </a:r>
            <a:r>
              <a:rPr dirty="0"/>
              <a:t>of</a:t>
            </a:r>
            <a:r>
              <a:rPr spc="-55" dirty="0"/>
              <a:t> </a:t>
            </a:r>
            <a:r>
              <a:rPr spc="-10" dirty="0"/>
              <a:t>Computer</a:t>
            </a:r>
            <a:r>
              <a:rPr spc="-60" dirty="0"/>
              <a:t> </a:t>
            </a:r>
            <a:r>
              <a:rPr spc="-10" dirty="0"/>
              <a:t>Science</a:t>
            </a:r>
          </a:p>
          <a:p>
            <a:pPr algn="ctr">
              <a:lnSpc>
                <a:spcPct val="100000"/>
              </a:lnSpc>
            </a:pPr>
            <a:r>
              <a:rPr spc="-10" dirty="0"/>
              <a:t>Engineering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1">
                <a:solidFill>
                  <a:srgbClr val="0C0C0C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360"/>
              </a:lnSpc>
            </a:pPr>
            <a:fld id="{81D60167-4931-47E6-BA6A-407CBD079E47}" type="slidenum">
              <a:rPr spc="-320" dirty="0"/>
              <a:t>‹#›</a:t>
            </a:fld>
            <a:endParaRPr spc="-32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167750" y="6460506"/>
            <a:ext cx="1828799" cy="370599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0" y="0"/>
            <a:ext cx="12192000" cy="1332865"/>
          </a:xfrm>
          <a:custGeom>
            <a:avLst/>
            <a:gdLst/>
            <a:ahLst/>
            <a:cxnLst/>
            <a:rect l="l" t="t" r="r" b="b"/>
            <a:pathLst>
              <a:path w="12192000" h="1332865">
                <a:moveTo>
                  <a:pt x="12191999" y="1332853"/>
                </a:moveTo>
                <a:lnTo>
                  <a:pt x="0" y="1332853"/>
                </a:lnTo>
                <a:lnTo>
                  <a:pt x="0" y="0"/>
                </a:lnTo>
                <a:lnTo>
                  <a:pt x="12191999" y="0"/>
                </a:lnTo>
                <a:lnTo>
                  <a:pt x="12191999" y="1332853"/>
                </a:lnTo>
                <a:close/>
              </a:path>
            </a:pathLst>
          </a:custGeom>
          <a:solidFill>
            <a:srgbClr val="418AB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1">
                <a:solidFill>
                  <a:srgbClr val="0C0C0C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360"/>
              </a:lnSpc>
            </a:pPr>
            <a:r>
              <a:rPr spc="-140" dirty="0"/>
              <a:t>18</a:t>
            </a:r>
            <a:r>
              <a:rPr spc="-65" dirty="0"/>
              <a:t> </a:t>
            </a:r>
            <a:r>
              <a:rPr spc="-20" dirty="0"/>
              <a:t>August</a:t>
            </a:r>
            <a:r>
              <a:rPr spc="-40" dirty="0"/>
              <a:t> </a:t>
            </a:r>
            <a:r>
              <a:rPr spc="-20" dirty="0"/>
              <a:t>2023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200" b="0" i="1">
                <a:solidFill>
                  <a:srgbClr val="0C0C0C"/>
                </a:solidFill>
                <a:latin typeface="Arial"/>
                <a:cs typeface="Arial"/>
              </a:defRPr>
            </a:lvl1pPr>
          </a:lstStyle>
          <a:p>
            <a:pPr algn="ctr">
              <a:lnSpc>
                <a:spcPts val="1360"/>
              </a:lnSpc>
            </a:pPr>
            <a:r>
              <a:rPr dirty="0"/>
              <a:t>Department</a:t>
            </a:r>
            <a:r>
              <a:rPr spc="-40" dirty="0"/>
              <a:t> </a:t>
            </a:r>
            <a:r>
              <a:rPr dirty="0"/>
              <a:t>of</a:t>
            </a:r>
            <a:r>
              <a:rPr spc="-55" dirty="0"/>
              <a:t> </a:t>
            </a:r>
            <a:r>
              <a:rPr spc="-10" dirty="0"/>
              <a:t>Computer</a:t>
            </a:r>
            <a:r>
              <a:rPr spc="-60" dirty="0"/>
              <a:t> </a:t>
            </a:r>
            <a:r>
              <a:rPr spc="-10" dirty="0"/>
              <a:t>Science</a:t>
            </a:r>
          </a:p>
          <a:p>
            <a:pPr algn="ctr">
              <a:lnSpc>
                <a:spcPct val="100000"/>
              </a:lnSpc>
            </a:pPr>
            <a:r>
              <a:rPr spc="-10" dirty="0"/>
              <a:t>Engineering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1">
                <a:solidFill>
                  <a:srgbClr val="0C0C0C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360"/>
              </a:lnSpc>
            </a:pPr>
            <a:fld id="{81D60167-4931-47E6-BA6A-407CBD079E47}" type="slidenum">
              <a:rPr spc="-320" dirty="0"/>
              <a:t>‹#›</a:t>
            </a:fld>
            <a:endParaRPr spc="-32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1">
                <a:solidFill>
                  <a:srgbClr val="0C0C0C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360"/>
              </a:lnSpc>
            </a:pPr>
            <a:r>
              <a:rPr spc="-140" dirty="0"/>
              <a:t>18</a:t>
            </a:r>
            <a:r>
              <a:rPr spc="-65" dirty="0"/>
              <a:t> </a:t>
            </a:r>
            <a:r>
              <a:rPr spc="-20" dirty="0"/>
              <a:t>August</a:t>
            </a:r>
            <a:r>
              <a:rPr spc="-40" dirty="0"/>
              <a:t> </a:t>
            </a:r>
            <a:r>
              <a:rPr spc="-20" dirty="0"/>
              <a:t>2023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200" b="0" i="1">
                <a:solidFill>
                  <a:srgbClr val="0C0C0C"/>
                </a:solidFill>
                <a:latin typeface="Arial"/>
                <a:cs typeface="Arial"/>
              </a:defRPr>
            </a:lvl1pPr>
          </a:lstStyle>
          <a:p>
            <a:pPr algn="ctr">
              <a:lnSpc>
                <a:spcPts val="1360"/>
              </a:lnSpc>
            </a:pPr>
            <a:r>
              <a:rPr dirty="0"/>
              <a:t>Department</a:t>
            </a:r>
            <a:r>
              <a:rPr spc="-40" dirty="0"/>
              <a:t> </a:t>
            </a:r>
            <a:r>
              <a:rPr dirty="0"/>
              <a:t>of</a:t>
            </a:r>
            <a:r>
              <a:rPr spc="-55" dirty="0"/>
              <a:t> </a:t>
            </a:r>
            <a:r>
              <a:rPr spc="-10" dirty="0"/>
              <a:t>Computer</a:t>
            </a:r>
            <a:r>
              <a:rPr spc="-60" dirty="0"/>
              <a:t> </a:t>
            </a:r>
            <a:r>
              <a:rPr spc="-10" dirty="0"/>
              <a:t>Science</a:t>
            </a:r>
          </a:p>
          <a:p>
            <a:pPr algn="ctr">
              <a:lnSpc>
                <a:spcPct val="100000"/>
              </a:lnSpc>
            </a:pPr>
            <a:r>
              <a:rPr spc="-10" dirty="0"/>
              <a:t>Engineering</a:t>
            </a: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1">
                <a:solidFill>
                  <a:srgbClr val="0C0C0C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360"/>
              </a:lnSpc>
            </a:pPr>
            <a:fld id="{81D60167-4931-47E6-BA6A-407CBD079E47}" type="slidenum">
              <a:rPr spc="-320" dirty="0"/>
              <a:t>‹#›</a:t>
            </a:fld>
            <a:endParaRPr spc="-32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1">
                <a:solidFill>
                  <a:srgbClr val="0C0C0C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360"/>
              </a:lnSpc>
            </a:pPr>
            <a:r>
              <a:rPr spc="-140" dirty="0"/>
              <a:t>18</a:t>
            </a:r>
            <a:r>
              <a:rPr spc="-65" dirty="0"/>
              <a:t> </a:t>
            </a:r>
            <a:r>
              <a:rPr spc="-20" dirty="0"/>
              <a:t>August</a:t>
            </a:r>
            <a:r>
              <a:rPr spc="-40" dirty="0"/>
              <a:t> </a:t>
            </a:r>
            <a:r>
              <a:rPr spc="-20" dirty="0"/>
              <a:t>2023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200" b="0" i="1">
                <a:solidFill>
                  <a:srgbClr val="0C0C0C"/>
                </a:solidFill>
                <a:latin typeface="Arial"/>
                <a:cs typeface="Arial"/>
              </a:defRPr>
            </a:lvl1pPr>
          </a:lstStyle>
          <a:p>
            <a:pPr algn="ctr">
              <a:lnSpc>
                <a:spcPts val="1360"/>
              </a:lnSpc>
            </a:pPr>
            <a:r>
              <a:rPr dirty="0"/>
              <a:t>Department</a:t>
            </a:r>
            <a:r>
              <a:rPr spc="-40" dirty="0"/>
              <a:t> </a:t>
            </a:r>
            <a:r>
              <a:rPr dirty="0"/>
              <a:t>of</a:t>
            </a:r>
            <a:r>
              <a:rPr spc="-55" dirty="0"/>
              <a:t> </a:t>
            </a:r>
            <a:r>
              <a:rPr spc="-10" dirty="0"/>
              <a:t>Computer</a:t>
            </a:r>
            <a:r>
              <a:rPr spc="-60" dirty="0"/>
              <a:t> </a:t>
            </a:r>
            <a:r>
              <a:rPr spc="-10" dirty="0"/>
              <a:t>Science</a:t>
            </a:r>
          </a:p>
          <a:p>
            <a:pPr algn="ctr">
              <a:lnSpc>
                <a:spcPct val="100000"/>
              </a:lnSpc>
            </a:pPr>
            <a:r>
              <a:rPr spc="-10" dirty="0"/>
              <a:t>Engineering</a:t>
            </a: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1">
                <a:solidFill>
                  <a:srgbClr val="0C0C0C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360"/>
              </a:lnSpc>
            </a:pPr>
            <a:fld id="{81D60167-4931-47E6-BA6A-407CBD079E47}" type="slidenum">
              <a:rPr spc="-320" dirty="0"/>
              <a:t>‹#›</a:t>
            </a:fld>
            <a:endParaRPr spc="-32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1">
                <a:solidFill>
                  <a:srgbClr val="0C0C0C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360"/>
              </a:lnSpc>
            </a:pPr>
            <a:r>
              <a:rPr spc="-140" dirty="0"/>
              <a:t>18</a:t>
            </a:r>
            <a:r>
              <a:rPr spc="-65" dirty="0"/>
              <a:t> </a:t>
            </a:r>
            <a:r>
              <a:rPr spc="-20" dirty="0"/>
              <a:t>August</a:t>
            </a:r>
            <a:r>
              <a:rPr spc="-40" dirty="0"/>
              <a:t> </a:t>
            </a:r>
            <a:r>
              <a:rPr spc="-20" dirty="0"/>
              <a:t>2023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200" b="0" i="1">
                <a:solidFill>
                  <a:srgbClr val="0C0C0C"/>
                </a:solidFill>
                <a:latin typeface="Arial"/>
                <a:cs typeface="Arial"/>
              </a:defRPr>
            </a:lvl1pPr>
          </a:lstStyle>
          <a:p>
            <a:pPr algn="ctr">
              <a:lnSpc>
                <a:spcPts val="1360"/>
              </a:lnSpc>
            </a:pPr>
            <a:r>
              <a:rPr dirty="0"/>
              <a:t>Department</a:t>
            </a:r>
            <a:r>
              <a:rPr spc="-40" dirty="0"/>
              <a:t> </a:t>
            </a:r>
            <a:r>
              <a:rPr dirty="0"/>
              <a:t>of</a:t>
            </a:r>
            <a:r>
              <a:rPr spc="-55" dirty="0"/>
              <a:t> </a:t>
            </a:r>
            <a:r>
              <a:rPr spc="-10" dirty="0"/>
              <a:t>Computer</a:t>
            </a:r>
            <a:r>
              <a:rPr spc="-60" dirty="0"/>
              <a:t> </a:t>
            </a:r>
            <a:r>
              <a:rPr spc="-10" dirty="0"/>
              <a:t>Science</a:t>
            </a:r>
          </a:p>
          <a:p>
            <a:pPr algn="ctr">
              <a:lnSpc>
                <a:spcPct val="100000"/>
              </a:lnSpc>
            </a:pPr>
            <a:r>
              <a:rPr spc="-10" dirty="0"/>
              <a:t>Engineering</a:t>
            </a: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1">
                <a:solidFill>
                  <a:srgbClr val="0C0C0C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360"/>
              </a:lnSpc>
            </a:pPr>
            <a:fld id="{81D60167-4931-47E6-BA6A-407CBD079E47}" type="slidenum">
              <a:rPr spc="-320" dirty="0"/>
              <a:t>‹#›</a:t>
            </a:fld>
            <a:endParaRPr spc="-32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0167750" y="6460506"/>
            <a:ext cx="1828799" cy="37059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27571" y="557053"/>
            <a:ext cx="11736857" cy="6959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6060" y="1315424"/>
            <a:ext cx="11005185" cy="16389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911225" y="6612504"/>
            <a:ext cx="1028064" cy="19430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1">
                <a:solidFill>
                  <a:srgbClr val="0C0C0C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360"/>
              </a:lnSpc>
            </a:pPr>
            <a:r>
              <a:rPr spc="-140" dirty="0"/>
              <a:t>18</a:t>
            </a:r>
            <a:r>
              <a:rPr spc="-65" dirty="0"/>
              <a:t> </a:t>
            </a:r>
            <a:r>
              <a:rPr spc="-20" dirty="0"/>
              <a:t>August</a:t>
            </a:r>
            <a:r>
              <a:rPr spc="-40" dirty="0"/>
              <a:t> </a:t>
            </a:r>
            <a:r>
              <a:rPr spc="-20" dirty="0"/>
              <a:t>2023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771491" y="6521064"/>
            <a:ext cx="2235834" cy="3771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1">
                <a:solidFill>
                  <a:srgbClr val="0C0C0C"/>
                </a:solidFill>
                <a:latin typeface="Arial"/>
                <a:cs typeface="Arial"/>
              </a:defRPr>
            </a:lvl1pPr>
          </a:lstStyle>
          <a:p>
            <a:pPr algn="ctr">
              <a:lnSpc>
                <a:spcPts val="1360"/>
              </a:lnSpc>
            </a:pPr>
            <a:r>
              <a:rPr dirty="0"/>
              <a:t>Department</a:t>
            </a:r>
            <a:r>
              <a:rPr spc="-40" dirty="0"/>
              <a:t> </a:t>
            </a:r>
            <a:r>
              <a:rPr dirty="0"/>
              <a:t>of</a:t>
            </a:r>
            <a:r>
              <a:rPr spc="-55" dirty="0"/>
              <a:t> </a:t>
            </a:r>
            <a:r>
              <a:rPr spc="-10" dirty="0"/>
              <a:t>Computer</a:t>
            </a:r>
            <a:r>
              <a:rPr spc="-60" dirty="0"/>
              <a:t> </a:t>
            </a:r>
            <a:r>
              <a:rPr spc="-10" dirty="0"/>
              <a:t>Science</a:t>
            </a:r>
          </a:p>
          <a:p>
            <a:pPr algn="ctr">
              <a:lnSpc>
                <a:spcPct val="100000"/>
              </a:lnSpc>
            </a:pPr>
            <a:r>
              <a:rPr spc="-10" dirty="0"/>
              <a:t>Engineering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9883293" y="6612504"/>
            <a:ext cx="211454" cy="19430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1">
                <a:solidFill>
                  <a:srgbClr val="0C0C0C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360"/>
              </a:lnSpc>
            </a:pPr>
            <a:fld id="{81D60167-4931-47E6-BA6A-407CBD079E47}" type="slidenum">
              <a:rPr spc="-320" dirty="0"/>
              <a:t>‹#›</a:t>
            </a:fld>
            <a:endParaRPr spc="-32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://www.acropolis.in/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4035485"/>
            <a:ext cx="12192000" cy="2822575"/>
          </a:xfrm>
          <a:custGeom>
            <a:avLst/>
            <a:gdLst/>
            <a:ahLst/>
            <a:cxnLst/>
            <a:rect l="l" t="t" r="r" b="b"/>
            <a:pathLst>
              <a:path w="12192000" h="2822575">
                <a:moveTo>
                  <a:pt x="12191999" y="2822514"/>
                </a:moveTo>
                <a:lnTo>
                  <a:pt x="0" y="2822514"/>
                </a:lnTo>
                <a:lnTo>
                  <a:pt x="0" y="0"/>
                </a:lnTo>
                <a:lnTo>
                  <a:pt x="12191999" y="0"/>
                </a:lnTo>
                <a:lnTo>
                  <a:pt x="12191999" y="2822514"/>
                </a:lnTo>
                <a:close/>
              </a:path>
            </a:pathLst>
          </a:custGeom>
          <a:solidFill>
            <a:srgbClr val="418AB3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53479" y="1317808"/>
            <a:ext cx="7485042" cy="1516817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484136" y="4623342"/>
            <a:ext cx="10664825" cy="1427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385060" marR="5080" indent="-2372995">
              <a:lnSpc>
                <a:spcPct val="100000"/>
              </a:lnSpc>
              <a:spcBef>
                <a:spcPts val="100"/>
              </a:spcBef>
            </a:pPr>
            <a:r>
              <a:rPr sz="4600" b="0" dirty="0">
                <a:latin typeface="Arial Black"/>
                <a:cs typeface="Arial Black"/>
              </a:rPr>
              <a:t>Acropolis</a:t>
            </a:r>
            <a:r>
              <a:rPr sz="4600" b="0" spc="-15" dirty="0">
                <a:latin typeface="Arial Black"/>
                <a:cs typeface="Arial Black"/>
              </a:rPr>
              <a:t> </a:t>
            </a:r>
            <a:r>
              <a:rPr sz="4600" b="0" dirty="0">
                <a:latin typeface="Arial Black"/>
                <a:cs typeface="Arial Black"/>
              </a:rPr>
              <a:t>Institute</a:t>
            </a:r>
            <a:r>
              <a:rPr sz="4600" b="0" spc="-15" dirty="0">
                <a:latin typeface="Arial Black"/>
                <a:cs typeface="Arial Black"/>
              </a:rPr>
              <a:t> </a:t>
            </a:r>
            <a:r>
              <a:rPr sz="4600" b="0" dirty="0">
                <a:latin typeface="Arial Black"/>
                <a:cs typeface="Arial Black"/>
              </a:rPr>
              <a:t>of</a:t>
            </a:r>
            <a:r>
              <a:rPr sz="4600" b="0" spc="254" dirty="0">
                <a:latin typeface="Arial Black"/>
                <a:cs typeface="Arial Black"/>
              </a:rPr>
              <a:t> </a:t>
            </a:r>
            <a:r>
              <a:rPr sz="4600" b="0" spc="-30" dirty="0">
                <a:latin typeface="Arial Black"/>
                <a:cs typeface="Arial Black"/>
              </a:rPr>
              <a:t>Technology </a:t>
            </a:r>
            <a:r>
              <a:rPr sz="4600" b="0" dirty="0">
                <a:latin typeface="Arial Black"/>
                <a:cs typeface="Arial Black"/>
              </a:rPr>
              <a:t>&amp;</a:t>
            </a:r>
            <a:r>
              <a:rPr sz="4600" b="0" spc="-90" dirty="0">
                <a:latin typeface="Arial Black"/>
                <a:cs typeface="Arial Black"/>
              </a:rPr>
              <a:t> </a:t>
            </a:r>
            <a:r>
              <a:rPr sz="4600" b="0" dirty="0">
                <a:latin typeface="Arial Black"/>
                <a:cs typeface="Arial Black"/>
              </a:rPr>
              <a:t>Research,</a:t>
            </a:r>
            <a:r>
              <a:rPr sz="4600" b="0" spc="-80" dirty="0">
                <a:latin typeface="Arial Black"/>
                <a:cs typeface="Arial Black"/>
              </a:rPr>
              <a:t> </a:t>
            </a:r>
            <a:r>
              <a:rPr sz="4600" b="0" spc="-10" dirty="0">
                <a:latin typeface="Arial Black"/>
                <a:cs typeface="Arial Black"/>
              </a:rPr>
              <a:t>Indore</a:t>
            </a:r>
            <a:endParaRPr sz="4600">
              <a:latin typeface="Arial Black"/>
              <a:cs typeface="Arial Black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316713" y="6470818"/>
            <a:ext cx="17894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60" dirty="0">
                <a:latin typeface="Arial"/>
                <a:cs typeface="Arial"/>
                <a:hlinkClick r:id="rId3"/>
              </a:rPr>
              <a:t>www.acropolis.in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-27159"/>
            <a:ext cx="12192000" cy="4866640"/>
          </a:xfrm>
          <a:custGeom>
            <a:avLst/>
            <a:gdLst/>
            <a:ahLst/>
            <a:cxnLst/>
            <a:rect l="l" t="t" r="r" b="b"/>
            <a:pathLst>
              <a:path w="12192000" h="4866640">
                <a:moveTo>
                  <a:pt x="12191999" y="4866467"/>
                </a:moveTo>
                <a:lnTo>
                  <a:pt x="0" y="4866467"/>
                </a:lnTo>
                <a:lnTo>
                  <a:pt x="0" y="0"/>
                </a:lnTo>
                <a:lnTo>
                  <a:pt x="12191999" y="0"/>
                </a:lnTo>
                <a:lnTo>
                  <a:pt x="12191999" y="4866467"/>
                </a:lnTo>
                <a:close/>
              </a:path>
            </a:pathLst>
          </a:custGeom>
          <a:solidFill>
            <a:srgbClr val="418AB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381000" y="533400"/>
            <a:ext cx="11430000" cy="22288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z="7200" dirty="0" smtClean="0">
                <a:solidFill>
                  <a:schemeClr val="bg1"/>
                </a:solidFill>
              </a:rPr>
              <a:t>Drishti : AI-based Smart Surveillance System</a:t>
            </a:r>
            <a:endParaRPr sz="7200" dirty="0">
              <a:solidFill>
                <a:schemeClr val="bg1"/>
              </a:solidFill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447800" y="4966290"/>
            <a:ext cx="6694814" cy="76695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8394065" algn="just">
              <a:lnSpc>
                <a:spcPct val="152700"/>
              </a:lnSpc>
              <a:spcBef>
                <a:spcPts val="100"/>
              </a:spcBef>
            </a:pPr>
            <a:endParaRPr sz="2200" dirty="0">
              <a:latin typeface="Arial"/>
              <a:cs typeface="Arial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04800" y="5181600"/>
            <a:ext cx="11582400" cy="8382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chemeClr val="tx1"/>
                </a:solidFill>
              </a:rPr>
              <a:t>Submitted to: </a:t>
            </a:r>
            <a:r>
              <a:rPr lang="en-US" sz="3200" b="1" dirty="0" smtClean="0">
                <a:solidFill>
                  <a:schemeClr val="tx1"/>
                </a:solidFill>
              </a:rPr>
              <a:t>Department </a:t>
            </a:r>
            <a:r>
              <a:rPr lang="en-US" sz="3200" b="1" dirty="0">
                <a:solidFill>
                  <a:schemeClr val="tx1"/>
                </a:solidFill>
              </a:rPr>
              <a:t>of Computer Science and Engineering </a:t>
            </a:r>
            <a:endParaRPr lang="en-IN" sz="3200" b="1" dirty="0">
              <a:solidFill>
                <a:schemeClr val="tx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3EE38F76-23DA-292C-DA67-ED9DCA23E263}"/>
              </a:ext>
            </a:extLst>
          </p:cNvPr>
          <p:cNvSpPr txBox="1"/>
          <p:nvPr/>
        </p:nvSpPr>
        <p:spPr>
          <a:xfrm>
            <a:off x="152400" y="6400027"/>
            <a:ext cx="14478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i="1" dirty="0" smtClean="0">
                <a:latin typeface="Arial" panose="020B0604020202020204" pitchFamily="34" charset="0"/>
                <a:cs typeface="Arial" panose="020B0604020202020204" pitchFamily="34" charset="0"/>
              </a:rPr>
              <a:t>22 Sep </a:t>
            </a:r>
            <a:r>
              <a:rPr lang="en-US" sz="1200" i="1" dirty="0" smtClean="0">
                <a:latin typeface="Arial" panose="020B0604020202020204" pitchFamily="34" charset="0"/>
                <a:cs typeface="Arial" panose="020B0604020202020204" pitchFamily="34" charset="0"/>
              </a:rPr>
              <a:t>2025</a:t>
            </a:r>
            <a:endParaRPr lang="en-US" sz="1200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8107" y="3142442"/>
            <a:ext cx="12173893" cy="66475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 smtClean="0"/>
              <a:t>(Intelligent Surveillance System for Real-time Headcount and Recognition)</a:t>
            </a:r>
            <a:endParaRPr lang="en-IN" sz="32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167750" y="6460506"/>
            <a:ext cx="1828799" cy="370599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dt" sz="half" idx="6"/>
          </p:nvPr>
        </p:nvSpPr>
        <p:spPr>
          <a:xfrm>
            <a:off x="4730128" y="6429623"/>
            <a:ext cx="2235834" cy="3771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360"/>
              </a:lnSpc>
            </a:pPr>
            <a:r>
              <a:rPr dirty="0"/>
              <a:t>Department</a:t>
            </a:r>
            <a:r>
              <a:rPr spc="-40" dirty="0"/>
              <a:t> </a:t>
            </a:r>
            <a:r>
              <a:rPr dirty="0"/>
              <a:t>of</a:t>
            </a:r>
            <a:r>
              <a:rPr spc="-55" dirty="0"/>
              <a:t> </a:t>
            </a:r>
            <a:r>
              <a:rPr spc="-10" dirty="0"/>
              <a:t>Computer</a:t>
            </a:r>
            <a:r>
              <a:rPr spc="-60" dirty="0"/>
              <a:t> </a:t>
            </a:r>
            <a:r>
              <a:rPr spc="-10" dirty="0"/>
              <a:t>Science</a:t>
            </a:r>
          </a:p>
          <a:p>
            <a:pPr algn="ctr">
              <a:lnSpc>
                <a:spcPct val="100000"/>
              </a:lnSpc>
            </a:pPr>
            <a:r>
              <a:rPr spc="-10" dirty="0"/>
              <a:t>Engineering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xfrm>
            <a:off x="911225" y="6612503"/>
            <a:ext cx="1186028" cy="3642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60"/>
              </a:lnSpc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22 Sep 2025</a:t>
            </a:r>
          </a:p>
          <a:p>
            <a:pPr marL="12700">
              <a:lnSpc>
                <a:spcPts val="1360"/>
              </a:lnSpc>
            </a:pPr>
            <a:endParaRPr spc="-20" dirty="0"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60"/>
              </a:lnSpc>
            </a:pPr>
            <a:fld id="{81D60167-4931-47E6-BA6A-407CBD079E47}" type="slidenum">
              <a:rPr spc="-320" dirty="0"/>
              <a:t>3</a:t>
            </a:fld>
            <a:endParaRPr spc="-320" dirty="0"/>
          </a:p>
        </p:txBody>
      </p:sp>
      <p:sp>
        <p:nvSpPr>
          <p:cNvPr id="4" name="object 4"/>
          <p:cNvSpPr txBox="1"/>
          <p:nvPr/>
        </p:nvSpPr>
        <p:spPr>
          <a:xfrm>
            <a:off x="5656881" y="1709738"/>
            <a:ext cx="6535420" cy="4079322"/>
          </a:xfrm>
          <a:prstGeom prst="rect">
            <a:avLst/>
          </a:prstGeom>
          <a:solidFill>
            <a:srgbClr val="418AB3"/>
          </a:solidFill>
        </p:spPr>
        <p:txBody>
          <a:bodyPr vert="horz" wrap="square" lIns="0" tIns="412750" rIns="0" bIns="0" rtlCol="0">
            <a:spAutoFit/>
          </a:bodyPr>
          <a:lstStyle/>
          <a:p>
            <a:pPr marL="751840" marR="2997200">
              <a:lnSpc>
                <a:spcPct val="100299"/>
              </a:lnSpc>
              <a:spcBef>
                <a:spcPts val="3250"/>
              </a:spcBef>
            </a:pPr>
            <a:r>
              <a:rPr sz="3400" b="1" spc="-45" dirty="0">
                <a:solidFill>
                  <a:srgbClr val="FFFFFF"/>
                </a:solidFill>
                <a:latin typeface="Calibri"/>
                <a:cs typeface="Calibri"/>
              </a:rPr>
              <a:t>Team</a:t>
            </a:r>
            <a:r>
              <a:rPr sz="3400" b="1" spc="-1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400" b="1" spc="-10" dirty="0">
                <a:solidFill>
                  <a:srgbClr val="FFFFFF"/>
                </a:solidFill>
                <a:latin typeface="Calibri"/>
                <a:cs typeface="Calibri"/>
              </a:rPr>
              <a:t>Members </a:t>
            </a:r>
            <a:r>
              <a:rPr sz="3400" b="1" spc="-25" dirty="0">
                <a:solidFill>
                  <a:srgbClr val="FFFFFF"/>
                </a:solidFill>
                <a:latin typeface="Calibri"/>
                <a:cs typeface="Calibri"/>
              </a:rPr>
              <a:t>1.</a:t>
            </a:r>
            <a:r>
              <a:rPr lang="en-US" sz="3400" b="1" spc="-25" dirty="0">
                <a:solidFill>
                  <a:srgbClr val="FFFFFF"/>
                </a:solidFill>
                <a:latin typeface="Calibri"/>
                <a:cs typeface="Calibri"/>
              </a:rPr>
              <a:t>Riya Kaushal</a:t>
            </a:r>
            <a:endParaRPr sz="3400" dirty="0">
              <a:latin typeface="Calibri"/>
              <a:cs typeface="Calibri"/>
            </a:endParaRPr>
          </a:p>
          <a:p>
            <a:pPr marL="751840">
              <a:spcBef>
                <a:spcPts val="10"/>
              </a:spcBef>
            </a:pPr>
            <a:r>
              <a:rPr lang="en-IN" sz="3400" b="1" spc="-25" dirty="0">
                <a:solidFill>
                  <a:srgbClr val="FFFFFF"/>
                </a:solidFill>
                <a:latin typeface="Calibri"/>
                <a:cs typeface="Calibri"/>
              </a:rPr>
              <a:t>2.Reeti </a:t>
            </a:r>
            <a:r>
              <a:rPr lang="en-IN" sz="3400" b="1" spc="-25" dirty="0" err="1">
                <a:solidFill>
                  <a:srgbClr val="FFFFFF"/>
                </a:solidFill>
                <a:latin typeface="Calibri"/>
                <a:cs typeface="Calibri"/>
              </a:rPr>
              <a:t>Shrimal</a:t>
            </a:r>
            <a:endParaRPr lang="en-IN" sz="3400" dirty="0">
              <a:latin typeface="Calibri"/>
              <a:cs typeface="Calibri"/>
            </a:endParaRPr>
          </a:p>
          <a:p>
            <a:pPr marL="751840">
              <a:lnSpc>
                <a:spcPct val="100000"/>
              </a:lnSpc>
              <a:spcBef>
                <a:spcPts val="10"/>
              </a:spcBef>
            </a:pPr>
            <a:r>
              <a:rPr lang="en-US" sz="3400" b="1" spc="-25" dirty="0">
                <a:solidFill>
                  <a:srgbClr val="FFFFFF"/>
                </a:solidFill>
                <a:latin typeface="Calibri"/>
                <a:cs typeface="Calibri"/>
              </a:rPr>
              <a:t>3</a:t>
            </a:r>
            <a:r>
              <a:rPr sz="3400" b="1" spc="-25" dirty="0">
                <a:solidFill>
                  <a:srgbClr val="FFFFFF"/>
                </a:solidFill>
                <a:latin typeface="Calibri"/>
                <a:cs typeface="Calibri"/>
              </a:rPr>
              <a:t>.</a:t>
            </a:r>
            <a:r>
              <a:rPr lang="en-US" sz="3400" b="1" spc="-25" dirty="0">
                <a:solidFill>
                  <a:srgbClr val="FFFFFF"/>
                </a:solidFill>
                <a:latin typeface="Calibri"/>
                <a:cs typeface="Calibri"/>
              </a:rPr>
              <a:t>Priyal Waghmare</a:t>
            </a:r>
          </a:p>
          <a:p>
            <a:pPr marL="751840">
              <a:lnSpc>
                <a:spcPct val="100000"/>
              </a:lnSpc>
              <a:spcBef>
                <a:spcPts val="10"/>
              </a:spcBef>
            </a:pPr>
            <a:r>
              <a:rPr lang="en-US" sz="3400" b="1" spc="-25" dirty="0">
                <a:solidFill>
                  <a:srgbClr val="FFFFFF"/>
                </a:solidFill>
                <a:latin typeface="Calibri"/>
                <a:cs typeface="Calibri"/>
              </a:rPr>
              <a:t>4.Mandisha </a:t>
            </a:r>
            <a:r>
              <a:rPr lang="en-US" sz="3400" b="1" spc="-25" dirty="0" err="1" smtClean="0">
                <a:solidFill>
                  <a:srgbClr val="FFFFFF"/>
                </a:solidFill>
                <a:latin typeface="Calibri"/>
                <a:cs typeface="Calibri"/>
              </a:rPr>
              <a:t>Mirza</a:t>
            </a:r>
            <a:endParaRPr lang="en-US" sz="3400" b="1" spc="-25" dirty="0" smtClean="0">
              <a:solidFill>
                <a:srgbClr val="FFFFFF"/>
              </a:solidFill>
              <a:latin typeface="Calibri"/>
              <a:cs typeface="Calibri"/>
            </a:endParaRPr>
          </a:p>
          <a:p>
            <a:pPr marL="751840">
              <a:lnSpc>
                <a:spcPct val="100000"/>
              </a:lnSpc>
              <a:spcBef>
                <a:spcPts val="10"/>
              </a:spcBef>
            </a:pPr>
            <a:r>
              <a:rPr lang="en-US" sz="3400" b="1" spc="-25" dirty="0" smtClean="0">
                <a:solidFill>
                  <a:srgbClr val="FFFFFF"/>
                </a:solidFill>
                <a:latin typeface="Calibri"/>
                <a:cs typeface="Calibri"/>
              </a:rPr>
              <a:t>5.Priyanka </a:t>
            </a:r>
            <a:r>
              <a:rPr lang="en-US" sz="3400" b="1" spc="-25" dirty="0" err="1" smtClean="0">
                <a:solidFill>
                  <a:srgbClr val="FFFFFF"/>
                </a:solidFill>
                <a:latin typeface="Calibri"/>
                <a:cs typeface="Calibri"/>
              </a:rPr>
              <a:t>Chirote</a:t>
            </a:r>
            <a:endParaRPr sz="3400" dirty="0">
              <a:latin typeface="Calibri"/>
              <a:cs typeface="Calibri"/>
            </a:endParaRPr>
          </a:p>
          <a:p>
            <a:pPr marL="751840">
              <a:lnSpc>
                <a:spcPct val="100000"/>
              </a:lnSpc>
              <a:spcBef>
                <a:spcPts val="10"/>
              </a:spcBef>
            </a:pPr>
            <a:endParaRPr sz="3400" dirty="0">
              <a:latin typeface="Calibri"/>
              <a:cs typeface="Calibri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838200" y="2057400"/>
            <a:ext cx="4085691" cy="23622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b="1" dirty="0">
                <a:solidFill>
                  <a:schemeClr val="tx1"/>
                </a:solidFill>
              </a:rPr>
              <a:t>Supervised by: </a:t>
            </a:r>
          </a:p>
          <a:p>
            <a:pPr algn="ctr"/>
            <a:r>
              <a:rPr lang="en-IN" sz="3200" b="1" dirty="0">
                <a:solidFill>
                  <a:schemeClr val="tx1"/>
                </a:solidFill>
              </a:rPr>
              <a:t>Prof. Akshay Dubey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Project</a:t>
            </a:r>
            <a:r>
              <a:rPr spc="-110" dirty="0"/>
              <a:t> </a:t>
            </a:r>
            <a:r>
              <a:rPr spc="-10" dirty="0"/>
              <a:t>Presentation</a:t>
            </a:r>
            <a:r>
              <a:rPr spc="-110" dirty="0"/>
              <a:t> </a:t>
            </a:r>
            <a:r>
              <a:rPr spc="-10" dirty="0"/>
              <a:t>Outline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360"/>
              </a:lnSpc>
            </a:pPr>
            <a:r>
              <a:rPr dirty="0"/>
              <a:t>Department</a:t>
            </a:r>
            <a:r>
              <a:rPr spc="-40" dirty="0"/>
              <a:t> </a:t>
            </a:r>
            <a:r>
              <a:rPr dirty="0"/>
              <a:t>of</a:t>
            </a:r>
            <a:r>
              <a:rPr spc="-55" dirty="0"/>
              <a:t> </a:t>
            </a:r>
            <a:r>
              <a:rPr spc="-10" dirty="0"/>
              <a:t>Computer</a:t>
            </a:r>
            <a:r>
              <a:rPr spc="-60" dirty="0"/>
              <a:t> </a:t>
            </a:r>
            <a:r>
              <a:rPr spc="-10" dirty="0"/>
              <a:t>Science</a:t>
            </a:r>
          </a:p>
          <a:p>
            <a:pPr algn="ctr">
              <a:lnSpc>
                <a:spcPct val="100000"/>
              </a:lnSpc>
            </a:pPr>
            <a:r>
              <a:rPr spc="-10" dirty="0"/>
              <a:t>Engineering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xfrm>
            <a:off x="911225" y="6612504"/>
            <a:ext cx="1028064" cy="3642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60"/>
              </a:lnSpc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22 Sep 2025</a:t>
            </a:r>
          </a:p>
          <a:p>
            <a:pPr marL="12700">
              <a:lnSpc>
                <a:spcPts val="1360"/>
              </a:lnSpc>
            </a:pPr>
            <a:endParaRPr spc="-20" dirty="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60"/>
              </a:lnSpc>
            </a:pPr>
            <a:fld id="{81D60167-4931-47E6-BA6A-407CBD079E47}" type="slidenum">
              <a:rPr spc="-320" dirty="0"/>
              <a:t>4</a:t>
            </a:fld>
            <a:endParaRPr spc="-320" dirty="0"/>
          </a:p>
        </p:txBody>
      </p:sp>
      <p:sp>
        <p:nvSpPr>
          <p:cNvPr id="3" name="object 3"/>
          <p:cNvSpPr txBox="1"/>
          <p:nvPr/>
        </p:nvSpPr>
        <p:spPr>
          <a:xfrm>
            <a:off x="118426" y="1330542"/>
            <a:ext cx="4044950" cy="477202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67665" indent="-354965">
              <a:lnSpc>
                <a:spcPts val="3170"/>
              </a:lnSpc>
              <a:spcBef>
                <a:spcPts val="120"/>
              </a:spcBef>
              <a:buClr>
                <a:srgbClr val="0070C0"/>
              </a:buClr>
              <a:buFont typeface="Segoe UI Symbol"/>
              <a:buChar char="❖"/>
              <a:tabLst>
                <a:tab pos="367665" algn="l"/>
              </a:tabLst>
            </a:pPr>
            <a:r>
              <a:rPr sz="2700" spc="-10" dirty="0">
                <a:latin typeface="Calibri"/>
                <a:cs typeface="Calibri"/>
              </a:rPr>
              <a:t>Introduction</a:t>
            </a:r>
            <a:endParaRPr sz="2700">
              <a:latin typeface="Calibri"/>
              <a:cs typeface="Calibri"/>
            </a:endParaRPr>
          </a:p>
          <a:p>
            <a:pPr marL="367665" indent="-354965">
              <a:lnSpc>
                <a:spcPts val="3100"/>
              </a:lnSpc>
              <a:buClr>
                <a:srgbClr val="0070C0"/>
              </a:buClr>
              <a:buFont typeface="Segoe UI Symbol"/>
              <a:buChar char="❖"/>
              <a:tabLst>
                <a:tab pos="367665" algn="l"/>
              </a:tabLst>
            </a:pPr>
            <a:r>
              <a:rPr sz="2700" dirty="0">
                <a:latin typeface="Calibri"/>
                <a:cs typeface="Calibri"/>
              </a:rPr>
              <a:t>Problem</a:t>
            </a:r>
            <a:r>
              <a:rPr sz="2700" spc="-75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Statement</a:t>
            </a:r>
            <a:endParaRPr sz="2700">
              <a:latin typeface="Calibri"/>
              <a:cs typeface="Calibri"/>
            </a:endParaRPr>
          </a:p>
          <a:p>
            <a:pPr marL="367665" indent="-354965">
              <a:lnSpc>
                <a:spcPts val="3100"/>
              </a:lnSpc>
              <a:buClr>
                <a:srgbClr val="0070C0"/>
              </a:buClr>
              <a:buFont typeface="Segoe UI Symbol"/>
              <a:buChar char="❖"/>
              <a:tabLst>
                <a:tab pos="367665" algn="l"/>
              </a:tabLst>
            </a:pPr>
            <a:r>
              <a:rPr sz="2700" dirty="0">
                <a:latin typeface="Calibri"/>
                <a:cs typeface="Calibri"/>
              </a:rPr>
              <a:t>Survey</a:t>
            </a:r>
            <a:r>
              <a:rPr sz="2700" spc="-2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of</a:t>
            </a:r>
            <a:r>
              <a:rPr sz="2700" spc="-2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Existing</a:t>
            </a:r>
            <a:r>
              <a:rPr sz="2700" spc="-20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Systems</a:t>
            </a:r>
            <a:endParaRPr sz="2700">
              <a:latin typeface="Calibri"/>
              <a:cs typeface="Calibri"/>
            </a:endParaRPr>
          </a:p>
          <a:p>
            <a:pPr marL="367665" indent="-354965">
              <a:lnSpc>
                <a:spcPts val="3100"/>
              </a:lnSpc>
              <a:buClr>
                <a:srgbClr val="0070C0"/>
              </a:buClr>
              <a:buFont typeface="Segoe UI Symbol"/>
              <a:buChar char="❖"/>
              <a:tabLst>
                <a:tab pos="367665" algn="l"/>
              </a:tabLst>
            </a:pPr>
            <a:r>
              <a:rPr sz="2700" dirty="0">
                <a:latin typeface="Calibri"/>
                <a:cs typeface="Calibri"/>
              </a:rPr>
              <a:t>Project</a:t>
            </a:r>
            <a:r>
              <a:rPr sz="2700" spc="-75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Objectives</a:t>
            </a:r>
            <a:endParaRPr sz="2700">
              <a:latin typeface="Calibri"/>
              <a:cs typeface="Calibri"/>
            </a:endParaRPr>
          </a:p>
          <a:p>
            <a:pPr marL="367665" indent="-354965">
              <a:lnSpc>
                <a:spcPts val="3100"/>
              </a:lnSpc>
              <a:buClr>
                <a:srgbClr val="0070C0"/>
              </a:buClr>
              <a:buFont typeface="Segoe UI Symbol"/>
              <a:buChar char="❖"/>
              <a:tabLst>
                <a:tab pos="367665" algn="l"/>
              </a:tabLst>
            </a:pPr>
            <a:r>
              <a:rPr sz="2700" dirty="0">
                <a:latin typeface="Calibri"/>
                <a:cs typeface="Calibri"/>
              </a:rPr>
              <a:t>Requirement</a:t>
            </a:r>
            <a:r>
              <a:rPr sz="2700" spc="-90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Analysis</a:t>
            </a:r>
            <a:endParaRPr sz="2700">
              <a:latin typeface="Calibri"/>
              <a:cs typeface="Calibri"/>
            </a:endParaRPr>
          </a:p>
          <a:p>
            <a:pPr marL="367665" indent="-354965">
              <a:lnSpc>
                <a:spcPts val="3100"/>
              </a:lnSpc>
              <a:buClr>
                <a:srgbClr val="0070C0"/>
              </a:buClr>
              <a:buFont typeface="Segoe UI Symbol"/>
              <a:buChar char="❖"/>
              <a:tabLst>
                <a:tab pos="367665" algn="l"/>
              </a:tabLst>
            </a:pPr>
            <a:r>
              <a:rPr sz="2700" dirty="0">
                <a:latin typeface="Calibri"/>
                <a:cs typeface="Calibri"/>
              </a:rPr>
              <a:t>Solution</a:t>
            </a:r>
            <a:r>
              <a:rPr sz="2700" spc="-35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Proposed</a:t>
            </a:r>
            <a:endParaRPr sz="2700">
              <a:latin typeface="Calibri"/>
              <a:cs typeface="Calibri"/>
            </a:endParaRPr>
          </a:p>
          <a:p>
            <a:pPr marL="367665" indent="-354965">
              <a:lnSpc>
                <a:spcPts val="3100"/>
              </a:lnSpc>
              <a:buClr>
                <a:srgbClr val="0070C0"/>
              </a:buClr>
              <a:buFont typeface="Segoe UI Symbol"/>
              <a:buChar char="❖"/>
              <a:tabLst>
                <a:tab pos="367665" algn="l"/>
              </a:tabLst>
            </a:pPr>
            <a:r>
              <a:rPr sz="2700" spc="-10" dirty="0">
                <a:latin typeface="Calibri"/>
                <a:cs typeface="Calibri"/>
              </a:rPr>
              <a:t>Features</a:t>
            </a:r>
            <a:endParaRPr sz="2700">
              <a:latin typeface="Calibri"/>
              <a:cs typeface="Calibri"/>
            </a:endParaRPr>
          </a:p>
          <a:p>
            <a:pPr marL="367665" indent="-354965">
              <a:lnSpc>
                <a:spcPts val="3100"/>
              </a:lnSpc>
              <a:buClr>
                <a:srgbClr val="0070C0"/>
              </a:buClr>
              <a:buFont typeface="Segoe UI Symbol"/>
              <a:buChar char="❖"/>
              <a:tabLst>
                <a:tab pos="367665" algn="l"/>
              </a:tabLst>
            </a:pPr>
            <a:r>
              <a:rPr sz="2700" dirty="0">
                <a:latin typeface="Calibri"/>
                <a:cs typeface="Calibri"/>
              </a:rPr>
              <a:t>System</a:t>
            </a:r>
            <a:r>
              <a:rPr sz="2700" spc="-120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architecture</a:t>
            </a:r>
            <a:endParaRPr sz="2700">
              <a:latin typeface="Calibri"/>
              <a:cs typeface="Calibri"/>
            </a:endParaRPr>
          </a:p>
          <a:p>
            <a:pPr marL="367665" indent="-354965">
              <a:lnSpc>
                <a:spcPts val="3100"/>
              </a:lnSpc>
              <a:buClr>
                <a:srgbClr val="0070C0"/>
              </a:buClr>
              <a:buFont typeface="Segoe UI Symbol"/>
              <a:buChar char="❖"/>
              <a:tabLst>
                <a:tab pos="367665" algn="l"/>
              </a:tabLst>
            </a:pPr>
            <a:r>
              <a:rPr sz="2700" dirty="0">
                <a:latin typeface="Calibri"/>
                <a:cs typeface="Calibri"/>
              </a:rPr>
              <a:t>User</a:t>
            </a:r>
            <a:r>
              <a:rPr sz="2700" spc="-15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Interface</a:t>
            </a:r>
            <a:endParaRPr sz="2700">
              <a:latin typeface="Calibri"/>
              <a:cs typeface="Calibri"/>
            </a:endParaRPr>
          </a:p>
          <a:p>
            <a:pPr marL="367665" indent="-354965">
              <a:lnSpc>
                <a:spcPts val="3100"/>
              </a:lnSpc>
              <a:buClr>
                <a:srgbClr val="0070C0"/>
              </a:buClr>
              <a:buFont typeface="Segoe UI Symbol"/>
              <a:buChar char="❖"/>
              <a:tabLst>
                <a:tab pos="367665" algn="l"/>
              </a:tabLst>
            </a:pPr>
            <a:r>
              <a:rPr sz="2700" spc="-25" dirty="0">
                <a:latin typeface="Calibri"/>
                <a:cs typeface="Calibri"/>
              </a:rPr>
              <a:t>Testing</a:t>
            </a:r>
            <a:r>
              <a:rPr sz="2700" spc="-105" dirty="0">
                <a:latin typeface="Calibri"/>
                <a:cs typeface="Calibri"/>
              </a:rPr>
              <a:t> </a:t>
            </a:r>
            <a:r>
              <a:rPr sz="2700" spc="-20" dirty="0">
                <a:latin typeface="Calibri"/>
                <a:cs typeface="Calibri"/>
              </a:rPr>
              <a:t>Plan</a:t>
            </a:r>
            <a:endParaRPr sz="2700">
              <a:latin typeface="Calibri"/>
              <a:cs typeface="Calibri"/>
            </a:endParaRPr>
          </a:p>
          <a:p>
            <a:pPr marL="367665" indent="-354965">
              <a:lnSpc>
                <a:spcPts val="3100"/>
              </a:lnSpc>
              <a:buClr>
                <a:srgbClr val="0070C0"/>
              </a:buClr>
              <a:buFont typeface="Segoe UI Symbol"/>
              <a:buChar char="❖"/>
              <a:tabLst>
                <a:tab pos="367665" algn="l"/>
                <a:tab pos="2416810" algn="l"/>
              </a:tabLst>
            </a:pPr>
            <a:r>
              <a:rPr sz="2700" dirty="0">
                <a:latin typeface="Calibri"/>
                <a:cs typeface="Calibri"/>
              </a:rPr>
              <a:t>The</a:t>
            </a:r>
            <a:r>
              <a:rPr sz="2700" spc="30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Outcome</a:t>
            </a:r>
            <a:r>
              <a:rPr sz="2700" dirty="0">
                <a:latin typeface="Calibri"/>
                <a:cs typeface="Calibri"/>
              </a:rPr>
              <a:t>	</a:t>
            </a:r>
            <a:r>
              <a:rPr sz="2700" spc="-10" dirty="0">
                <a:latin typeface="Calibri"/>
                <a:cs typeface="Calibri"/>
              </a:rPr>
              <a:t>Discussion</a:t>
            </a:r>
            <a:endParaRPr sz="2700">
              <a:latin typeface="Calibri"/>
              <a:cs typeface="Calibri"/>
            </a:endParaRPr>
          </a:p>
          <a:p>
            <a:pPr marL="367665" indent="-354965">
              <a:lnSpc>
                <a:spcPts val="3170"/>
              </a:lnSpc>
              <a:buClr>
                <a:srgbClr val="0070C0"/>
              </a:buClr>
              <a:buFont typeface="Segoe UI Symbol"/>
              <a:buChar char="❖"/>
              <a:tabLst>
                <a:tab pos="367665" algn="l"/>
              </a:tabLst>
            </a:pPr>
            <a:r>
              <a:rPr sz="2700" spc="-10" dirty="0">
                <a:latin typeface="Calibri"/>
                <a:cs typeface="Calibri"/>
              </a:rPr>
              <a:t>Conclusions</a:t>
            </a:r>
            <a:endParaRPr sz="27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Introduction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360"/>
              </a:lnSpc>
            </a:pPr>
            <a:r>
              <a:rPr dirty="0"/>
              <a:t>Department</a:t>
            </a:r>
            <a:r>
              <a:rPr spc="-40" dirty="0"/>
              <a:t> </a:t>
            </a:r>
            <a:r>
              <a:rPr dirty="0"/>
              <a:t>of</a:t>
            </a:r>
            <a:r>
              <a:rPr spc="-55" dirty="0"/>
              <a:t> </a:t>
            </a:r>
            <a:r>
              <a:rPr spc="-10" dirty="0"/>
              <a:t>Computer</a:t>
            </a:r>
            <a:r>
              <a:rPr spc="-60" dirty="0"/>
              <a:t> </a:t>
            </a:r>
            <a:r>
              <a:rPr spc="-10" dirty="0"/>
              <a:t>Science</a:t>
            </a:r>
          </a:p>
          <a:p>
            <a:pPr algn="ctr">
              <a:lnSpc>
                <a:spcPct val="100000"/>
              </a:lnSpc>
            </a:pPr>
            <a:r>
              <a:rPr spc="-10" dirty="0"/>
              <a:t>Engineering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xfrm>
            <a:off x="911225" y="6612504"/>
            <a:ext cx="1028064" cy="3642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60"/>
              </a:lnSpc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22 Sep 2025</a:t>
            </a:r>
          </a:p>
          <a:p>
            <a:pPr marL="12700">
              <a:lnSpc>
                <a:spcPts val="1360"/>
              </a:lnSpc>
            </a:pPr>
            <a:endParaRPr spc="-20" dirty="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60"/>
              </a:lnSpc>
            </a:pPr>
            <a:fld id="{81D60167-4931-47E6-BA6A-407CBD079E47}" type="slidenum">
              <a:rPr spc="-320" dirty="0"/>
              <a:t>5</a:t>
            </a:fld>
            <a:endParaRPr spc="-320" dirty="0"/>
          </a:p>
        </p:txBody>
      </p:sp>
      <p:sp>
        <p:nvSpPr>
          <p:cNvPr id="3" name="object 3"/>
          <p:cNvSpPr txBox="1"/>
          <p:nvPr/>
        </p:nvSpPr>
        <p:spPr>
          <a:xfrm>
            <a:off x="94812" y="1489713"/>
            <a:ext cx="11869616" cy="4703211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r>
              <a:rPr lang="en-US" sz="2000" b="1" dirty="0"/>
              <a:t>Project Title:</a:t>
            </a:r>
            <a:r>
              <a:rPr lang="en-US" sz="2000" dirty="0"/>
              <a:t/>
            </a:r>
            <a:br>
              <a:rPr lang="en-US" sz="2000" dirty="0"/>
            </a:br>
            <a:r>
              <a:rPr lang="en-US" sz="2000" dirty="0" smtClean="0"/>
              <a:t>Drishti – An AI-based Smart Surveillance System for Real-time Headcount and Recognition.</a:t>
            </a:r>
          </a:p>
          <a:p>
            <a:r>
              <a:rPr lang="en-US" sz="2000" b="1" dirty="0" smtClean="0"/>
              <a:t>About </a:t>
            </a:r>
            <a:r>
              <a:rPr lang="en-US" sz="2000" b="1" dirty="0"/>
              <a:t>the Project:</a:t>
            </a:r>
            <a:r>
              <a:rPr lang="en-US" sz="2000" dirty="0"/>
              <a:t/>
            </a:r>
            <a:br>
              <a:rPr lang="en-US" sz="2000" dirty="0"/>
            </a:br>
            <a:r>
              <a:rPr lang="en-US" sz="2000" dirty="0" smtClean="0"/>
              <a:t>The system leverages Artificial Intelligence and Computer Vision to detect, count, and recognize individuals in real time. It uses </a:t>
            </a:r>
            <a:r>
              <a:rPr lang="en-US" sz="2000" b="1" dirty="0" smtClean="0"/>
              <a:t>YOLOv8</a:t>
            </a:r>
            <a:r>
              <a:rPr lang="en-US" sz="2000" dirty="0" smtClean="0"/>
              <a:t> for person detection and </a:t>
            </a:r>
            <a:r>
              <a:rPr lang="en-US" sz="2000" b="1" dirty="0" err="1" smtClean="0"/>
              <a:t>DeepFace</a:t>
            </a:r>
            <a:r>
              <a:rPr lang="en-US" sz="2000" dirty="0" smtClean="0"/>
              <a:t> for facial recognition, while a web-based dashboard displays live video feed, headcount, and alerts. Unknown individuals are labeled as “Unknown” to ensure privacy.</a:t>
            </a:r>
          </a:p>
          <a:p>
            <a:r>
              <a:rPr lang="en-US" sz="2000" b="1" dirty="0" smtClean="0"/>
              <a:t>Solution </a:t>
            </a:r>
            <a:r>
              <a:rPr lang="en-US" sz="2000" b="1" dirty="0"/>
              <a:t>Provided:</a:t>
            </a:r>
            <a:r>
              <a:rPr lang="en-US" sz="2000" dirty="0"/>
              <a:t/>
            </a:r>
            <a:br>
              <a:rPr lang="en-US" sz="2000" dirty="0"/>
            </a:br>
            <a:r>
              <a:rPr lang="en-US" sz="2000" dirty="0" smtClean="0"/>
              <a:t>Drishti combines </a:t>
            </a:r>
            <a:r>
              <a:rPr lang="en-US" sz="2000" b="1" dirty="0" smtClean="0"/>
              <a:t>computer vision, deep learning models, and a secure database</a:t>
            </a:r>
            <a:r>
              <a:rPr lang="en-US" sz="2000" dirty="0" smtClean="0"/>
              <a:t> to deliver accurate and privacy-aware surveillance. It automates crowd monitoring, reduces manual supervision, and provides real-time insights through an interactive dashboard. Its modular architecture allows future scalability for multi-camera, cloud, and mobile-based integration.</a:t>
            </a:r>
          </a:p>
          <a:p>
            <a:r>
              <a:rPr lang="en-US" sz="2000" b="1" dirty="0" smtClean="0"/>
              <a:t>Motivation</a:t>
            </a:r>
            <a:r>
              <a:rPr lang="en-US" sz="2000" b="1" dirty="0"/>
              <a:t>:</a:t>
            </a:r>
            <a:r>
              <a:rPr lang="en-US" sz="2000" dirty="0"/>
              <a:t/>
            </a:r>
            <a:br>
              <a:rPr lang="en-US" sz="2000" dirty="0"/>
            </a:br>
            <a:r>
              <a:rPr lang="en-US" sz="2000" dirty="0" smtClean="0"/>
              <a:t>Driven by the </a:t>
            </a:r>
            <a:r>
              <a:rPr lang="en-US" sz="2000" b="1" dirty="0" smtClean="0"/>
              <a:t>limitations of traditional CCTV</a:t>
            </a:r>
            <a:r>
              <a:rPr lang="en-US" sz="2000" dirty="0" smtClean="0"/>
              <a:t> and rising security needs, the project aims to provide </a:t>
            </a:r>
            <a:r>
              <a:rPr lang="en-US" sz="2000" b="1" dirty="0" smtClean="0"/>
              <a:t>efficient, accurate, and scalable smart surveillance</a:t>
            </a:r>
            <a:r>
              <a:rPr lang="en-US" sz="2000" dirty="0" smtClean="0"/>
              <a:t> for campuses, offices, and public spaces.</a:t>
            </a:r>
            <a:endParaRPr lang="en-US" sz="2000" dirty="0"/>
          </a:p>
        </p:txBody>
      </p:sp>
      <p:sp>
        <p:nvSpPr>
          <p:cNvPr id="9" name="Rectangle 3"/>
          <p:cNvSpPr>
            <a:spLocks noChangeArrowheads="1"/>
          </p:cNvSpPr>
          <p:nvPr/>
        </p:nvSpPr>
        <p:spPr bwMode="auto">
          <a:xfrm>
            <a:off x="0" y="-184666"/>
            <a:ext cx="32893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7571" y="557053"/>
            <a:ext cx="550989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The</a:t>
            </a:r>
            <a:r>
              <a:rPr spc="-60" dirty="0"/>
              <a:t> </a:t>
            </a:r>
            <a:r>
              <a:rPr dirty="0"/>
              <a:t>Problem</a:t>
            </a:r>
            <a:r>
              <a:rPr spc="-50" dirty="0"/>
              <a:t> </a:t>
            </a:r>
            <a:r>
              <a:rPr spc="-10" dirty="0"/>
              <a:t>Statement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360"/>
              </a:lnSpc>
            </a:pPr>
            <a:r>
              <a:rPr dirty="0"/>
              <a:t>Department</a:t>
            </a:r>
            <a:r>
              <a:rPr spc="-40" dirty="0"/>
              <a:t> </a:t>
            </a:r>
            <a:r>
              <a:rPr dirty="0"/>
              <a:t>of</a:t>
            </a:r>
            <a:r>
              <a:rPr spc="-55" dirty="0"/>
              <a:t> </a:t>
            </a:r>
            <a:r>
              <a:rPr spc="-10" dirty="0"/>
              <a:t>Computer</a:t>
            </a:r>
            <a:r>
              <a:rPr spc="-60" dirty="0"/>
              <a:t> </a:t>
            </a:r>
            <a:r>
              <a:rPr spc="-10" dirty="0"/>
              <a:t>Science</a:t>
            </a:r>
          </a:p>
          <a:p>
            <a:pPr algn="ctr">
              <a:lnSpc>
                <a:spcPct val="100000"/>
              </a:lnSpc>
            </a:pPr>
            <a:r>
              <a:rPr spc="-10" dirty="0"/>
              <a:t>Engineering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xfrm>
            <a:off x="911225" y="6612504"/>
            <a:ext cx="1028064" cy="3642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60"/>
              </a:lnSpc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22 Sep 2025</a:t>
            </a:r>
          </a:p>
          <a:p>
            <a:pPr marL="12700">
              <a:lnSpc>
                <a:spcPts val="1360"/>
              </a:lnSpc>
            </a:pPr>
            <a:endParaRPr spc="-20" dirty="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60"/>
              </a:lnSpc>
            </a:pPr>
            <a:fld id="{81D60167-4931-47E6-BA6A-407CBD079E47}" type="slidenum">
              <a:rPr spc="-320" dirty="0"/>
              <a:t>6</a:t>
            </a:fld>
            <a:endParaRPr spc="-320" dirty="0"/>
          </a:p>
        </p:txBody>
      </p:sp>
      <p:sp>
        <p:nvSpPr>
          <p:cNvPr id="3" name="object 3"/>
          <p:cNvSpPr txBox="1"/>
          <p:nvPr/>
        </p:nvSpPr>
        <p:spPr>
          <a:xfrm>
            <a:off x="248461" y="1471044"/>
            <a:ext cx="11943539" cy="5238614"/>
          </a:xfrm>
          <a:prstGeom prst="rect">
            <a:avLst/>
          </a:prstGeom>
        </p:spPr>
        <p:txBody>
          <a:bodyPr vert="horz" wrap="square" lIns="0" tIns="67310" rIns="0" bIns="0" rtlCol="0">
            <a:spAutoFit/>
          </a:bodyPr>
          <a:lstStyle/>
          <a:p>
            <a:r>
              <a:rPr lang="en-US" sz="2400" dirty="0" smtClean="0"/>
              <a:t>Traditional CCTV-based surveillance systems are </a:t>
            </a:r>
            <a:r>
              <a:rPr lang="en-US" sz="2400" b="1" dirty="0" smtClean="0"/>
              <a:t>limited to passive video recording</a:t>
            </a:r>
            <a:r>
              <a:rPr lang="en-US" sz="2400" dirty="0" smtClean="0"/>
              <a:t> and depend heavily on </a:t>
            </a:r>
            <a:r>
              <a:rPr lang="en-US" sz="2400" b="1" dirty="0" smtClean="0"/>
              <a:t>manual monitoring by security personnel</a:t>
            </a:r>
            <a:r>
              <a:rPr lang="en-US" sz="2400" dirty="0" smtClean="0"/>
              <a:t>. This leads to several issues such as:</a:t>
            </a:r>
          </a:p>
          <a:p>
            <a:endParaRPr lang="en-US" sz="2400" dirty="0" smtClean="0"/>
          </a:p>
          <a:p>
            <a:r>
              <a:rPr lang="en-US" sz="2400" dirty="0" smtClean="0"/>
              <a:t>1. Inefficient detection of unusual activity or overcrowding.</a:t>
            </a:r>
          </a:p>
          <a:p>
            <a:r>
              <a:rPr lang="en-US" sz="2400" dirty="0" smtClean="0"/>
              <a:t>2. High chances of </a:t>
            </a:r>
            <a:r>
              <a:rPr lang="en-US" sz="2400" b="1" dirty="0" smtClean="0"/>
              <a:t>human error and delayed response</a:t>
            </a:r>
            <a:r>
              <a:rPr lang="en-US" sz="2400" dirty="0" smtClean="0"/>
              <a:t>.</a:t>
            </a:r>
          </a:p>
          <a:p>
            <a:r>
              <a:rPr lang="en-US" sz="2400" dirty="0" smtClean="0"/>
              <a:t>3. Lack of </a:t>
            </a:r>
            <a:r>
              <a:rPr lang="en-US" sz="2400" b="1" dirty="0" smtClean="0"/>
              <a:t>real-time alerts and intelligent analysis</a:t>
            </a:r>
            <a:r>
              <a:rPr lang="en-US" sz="2400" dirty="0" smtClean="0"/>
              <a:t>.</a:t>
            </a:r>
          </a:p>
          <a:p>
            <a:r>
              <a:rPr lang="en-US" sz="2400" dirty="0" smtClean="0"/>
              <a:t>4. Inability to </a:t>
            </a:r>
            <a:r>
              <a:rPr lang="en-US" sz="2400" b="1" dirty="0" smtClean="0"/>
              <a:t>recognize individuals automatically</a:t>
            </a:r>
            <a:r>
              <a:rPr lang="en-US" sz="2400" dirty="0" smtClean="0"/>
              <a:t> while ensuring privacy.</a:t>
            </a:r>
          </a:p>
          <a:p>
            <a:r>
              <a:rPr lang="en-US" sz="2400" dirty="0" smtClean="0"/>
              <a:t>5. Limited scalability for modern </a:t>
            </a:r>
            <a:r>
              <a:rPr lang="en-US" sz="2400" b="1" dirty="0" smtClean="0"/>
              <a:t>smart city and institutional needs</a:t>
            </a:r>
            <a:r>
              <a:rPr lang="en-US" sz="2400" dirty="0" smtClean="0"/>
              <a:t>.</a:t>
            </a:r>
          </a:p>
          <a:p>
            <a:endParaRPr lang="en-US" sz="2400" dirty="0" smtClean="0"/>
          </a:p>
          <a:p>
            <a:r>
              <a:rPr lang="en-US" sz="2400" dirty="0" smtClean="0"/>
              <a:t>Thus, there is a strong need for an </a:t>
            </a:r>
            <a:r>
              <a:rPr lang="en-US" sz="2400" b="1" dirty="0" smtClean="0"/>
              <a:t>AI-powered intelligent surveillance system</a:t>
            </a:r>
            <a:r>
              <a:rPr lang="en-US" sz="2400" dirty="0" smtClean="0"/>
              <a:t> that can </a:t>
            </a:r>
            <a:r>
              <a:rPr lang="en-US" sz="2400" b="1" dirty="0" smtClean="0"/>
              <a:t>automate real-time person detection, headcount, and facial recognition</a:t>
            </a:r>
            <a:r>
              <a:rPr lang="en-US" sz="2400" dirty="0" smtClean="0"/>
              <a:t> while maintaining </a:t>
            </a:r>
            <a:r>
              <a:rPr lang="en-US" sz="2400" b="1" dirty="0" smtClean="0"/>
              <a:t>privacy, accuracy, and scalability</a:t>
            </a:r>
            <a:r>
              <a:rPr lang="en-US" sz="2400" dirty="0" smtClean="0"/>
              <a:t>.</a:t>
            </a:r>
          </a:p>
          <a:p>
            <a:pPr marL="457200" indent="-457200">
              <a:buFont typeface="+mj-lt"/>
              <a:buAutoNum type="arabicPeriod"/>
            </a:pPr>
            <a:endParaRPr lang="en-US" sz="2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7571" y="557053"/>
            <a:ext cx="610108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Survey</a:t>
            </a:r>
            <a:r>
              <a:rPr spc="-75" dirty="0"/>
              <a:t> </a:t>
            </a:r>
            <a:r>
              <a:rPr dirty="0"/>
              <a:t>of</a:t>
            </a:r>
            <a:r>
              <a:rPr spc="-70" dirty="0"/>
              <a:t> </a:t>
            </a:r>
            <a:r>
              <a:rPr dirty="0"/>
              <a:t>Existing</a:t>
            </a:r>
            <a:r>
              <a:rPr spc="-75" dirty="0"/>
              <a:t> </a:t>
            </a:r>
            <a:r>
              <a:rPr spc="-10" dirty="0"/>
              <a:t>Systems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360"/>
              </a:lnSpc>
            </a:pPr>
            <a:r>
              <a:rPr dirty="0"/>
              <a:t>Department</a:t>
            </a:r>
            <a:r>
              <a:rPr spc="-40" dirty="0"/>
              <a:t> </a:t>
            </a:r>
            <a:r>
              <a:rPr dirty="0"/>
              <a:t>of</a:t>
            </a:r>
            <a:r>
              <a:rPr spc="-55" dirty="0"/>
              <a:t> </a:t>
            </a:r>
            <a:r>
              <a:rPr spc="-10" dirty="0"/>
              <a:t>Computer</a:t>
            </a:r>
            <a:r>
              <a:rPr spc="-60" dirty="0"/>
              <a:t> </a:t>
            </a:r>
            <a:r>
              <a:rPr spc="-10" dirty="0"/>
              <a:t>Science</a:t>
            </a:r>
          </a:p>
          <a:p>
            <a:pPr algn="ctr">
              <a:lnSpc>
                <a:spcPct val="100000"/>
              </a:lnSpc>
            </a:pPr>
            <a:r>
              <a:rPr spc="-10" dirty="0"/>
              <a:t>Engineering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xfrm>
            <a:off x="911225" y="6612504"/>
            <a:ext cx="1028064" cy="3642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60"/>
              </a:lnSpc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22 Sep 2025</a:t>
            </a:r>
          </a:p>
          <a:p>
            <a:pPr marL="12700">
              <a:lnSpc>
                <a:spcPts val="1360"/>
              </a:lnSpc>
            </a:pPr>
            <a:endParaRPr spc="-20" dirty="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60"/>
              </a:lnSpc>
            </a:pPr>
            <a:fld id="{81D60167-4931-47E6-BA6A-407CBD079E47}" type="slidenum">
              <a:rPr spc="-320" dirty="0"/>
              <a:t>7</a:t>
            </a:fld>
            <a:endParaRPr spc="-320" dirty="0"/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84573687"/>
              </p:ext>
            </p:extLst>
          </p:nvPr>
        </p:nvGraphicFramePr>
        <p:xfrm>
          <a:off x="685800" y="1684858"/>
          <a:ext cx="10210800" cy="4495800"/>
        </p:xfrm>
        <a:graphic>
          <a:graphicData uri="http://schemas.openxmlformats.org/drawingml/2006/table">
            <a:tbl>
              <a:tblPr firstRow="1" firstCol="1" bandRow="1">
                <a:tableStyleId>{125E5076-3810-47DD-B79F-674D7AD40C01}</a:tableStyleId>
              </a:tblPr>
              <a:tblGrid>
                <a:gridCol w="838200"/>
                <a:gridCol w="3246120"/>
                <a:gridCol w="2042160"/>
                <a:gridCol w="2042160"/>
                <a:gridCol w="2042160"/>
              </a:tblGrid>
              <a:tr h="392038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400" dirty="0">
                          <a:effectLst/>
                        </a:rPr>
                        <a:t>S. No.</a:t>
                      </a:r>
                      <a:endParaRPr lang="en-IN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/>
                      </a:endParaRPr>
                    </a:p>
                  </a:txBody>
                  <a:tcPr marL="6336" marR="6336" marT="6336" marB="6336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400">
                          <a:effectLst/>
                        </a:rPr>
                        <a:t>Project Title</a:t>
                      </a:r>
                      <a:endParaRPr lang="en-IN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/>
                      </a:endParaRPr>
                    </a:p>
                  </a:txBody>
                  <a:tcPr marL="6336" marR="6336" marT="6336" marB="6336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400">
                          <a:effectLst/>
                        </a:rPr>
                        <a:t>Key Features / Description</a:t>
                      </a:r>
                      <a:endParaRPr lang="en-IN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/>
                      </a:endParaRPr>
                    </a:p>
                  </a:txBody>
                  <a:tcPr marL="6336" marR="6336" marT="6336" marB="6336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400">
                          <a:effectLst/>
                        </a:rPr>
                        <a:t>Techniques Used</a:t>
                      </a:r>
                      <a:endParaRPr lang="en-IN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/>
                      </a:endParaRPr>
                    </a:p>
                  </a:txBody>
                  <a:tcPr marL="6336" marR="6336" marT="6336" marB="6336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400">
                          <a:effectLst/>
                        </a:rPr>
                        <a:t>Domain / Application</a:t>
                      </a:r>
                      <a:endParaRPr lang="en-IN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/>
                      </a:endParaRPr>
                    </a:p>
                  </a:txBody>
                  <a:tcPr marL="6336" marR="6336" marT="6336" marB="6336" anchor="ctr"/>
                </a:tc>
              </a:tr>
              <a:tr h="1106562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400" dirty="0">
                          <a:effectLst/>
                        </a:rPr>
                        <a:t>1</a:t>
                      </a:r>
                      <a:endParaRPr lang="en-IN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/>
                      </a:endParaRPr>
                    </a:p>
                  </a:txBody>
                  <a:tcPr marL="6336" marR="6336" marT="6336" marB="6336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400" dirty="0">
                          <a:effectLst/>
                        </a:rPr>
                        <a:t>Real-Time Human Detection and Tracking using YOLO and </a:t>
                      </a:r>
                      <a:r>
                        <a:rPr lang="en-IN" sz="1400" dirty="0" err="1">
                          <a:effectLst/>
                        </a:rPr>
                        <a:t>DeepSORT</a:t>
                      </a:r>
                      <a:endParaRPr lang="en-IN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/>
                      </a:endParaRPr>
                    </a:p>
                  </a:txBody>
                  <a:tcPr marL="6336" marR="6336" marT="6336" marB="6336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400">
                          <a:effectLst/>
                        </a:rPr>
                        <a:t>Detects and tracks individuals in CCTV streams</a:t>
                      </a:r>
                      <a:endParaRPr lang="en-IN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/>
                      </a:endParaRPr>
                    </a:p>
                  </a:txBody>
                  <a:tcPr marL="6336" marR="6336" marT="6336" marB="6336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400">
                          <a:effectLst/>
                        </a:rPr>
                        <a:t>YOLO, DeepSORT</a:t>
                      </a:r>
                      <a:endParaRPr lang="en-IN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/>
                      </a:endParaRPr>
                    </a:p>
                  </a:txBody>
                  <a:tcPr marL="6336" marR="6336" marT="6336" marB="6336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400">
                          <a:effectLst/>
                        </a:rPr>
                        <a:t>Crowd monitoring, surveillance</a:t>
                      </a:r>
                      <a:endParaRPr lang="en-IN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/>
                      </a:endParaRPr>
                    </a:p>
                  </a:txBody>
                  <a:tcPr marL="6336" marR="6336" marT="6336" marB="6336" anchor="ctr"/>
                </a:tc>
              </a:tr>
              <a:tr h="7493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400" dirty="0">
                          <a:effectLst/>
                        </a:rPr>
                        <a:t>2</a:t>
                      </a:r>
                      <a:endParaRPr lang="en-IN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/>
                      </a:endParaRPr>
                    </a:p>
                  </a:txBody>
                  <a:tcPr marL="6336" marR="6336" marT="6336" marB="6336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400" dirty="0">
                          <a:effectLst/>
                        </a:rPr>
                        <a:t>COVID-19 Social Distancing Monitoring System</a:t>
                      </a:r>
                      <a:endParaRPr lang="en-IN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/>
                      </a:endParaRPr>
                    </a:p>
                  </a:txBody>
                  <a:tcPr marL="6336" marR="6336" marT="6336" marB="6336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400" dirty="0">
                          <a:effectLst/>
                        </a:rPr>
                        <a:t>Counts people, measures distance for social distancing</a:t>
                      </a:r>
                      <a:endParaRPr lang="en-IN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/>
                      </a:endParaRPr>
                    </a:p>
                  </a:txBody>
                  <a:tcPr marL="6336" marR="6336" marT="6336" marB="6336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400">
                          <a:effectLst/>
                        </a:rPr>
                        <a:t>YOLOv3, DeepSORT</a:t>
                      </a:r>
                      <a:endParaRPr lang="en-IN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/>
                      </a:endParaRPr>
                    </a:p>
                  </a:txBody>
                  <a:tcPr marL="6336" marR="6336" marT="6336" marB="6336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400">
                          <a:effectLst/>
                        </a:rPr>
                        <a:t>Pandemic control, public safety</a:t>
                      </a:r>
                      <a:endParaRPr lang="en-IN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/>
                      </a:endParaRPr>
                    </a:p>
                  </a:txBody>
                  <a:tcPr marL="6336" marR="6336" marT="6336" marB="6336" anchor="ctr"/>
                </a:tc>
              </a:tr>
              <a:tr h="7493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400">
                          <a:effectLst/>
                        </a:rPr>
                        <a:t>3</a:t>
                      </a:r>
                      <a:endParaRPr lang="en-IN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/>
                      </a:endParaRPr>
                    </a:p>
                  </a:txBody>
                  <a:tcPr marL="6336" marR="6336" marT="6336" marB="6336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400">
                          <a:effectLst/>
                        </a:rPr>
                        <a:t>Smart Surveillance System using Face Recognition</a:t>
                      </a:r>
                      <a:endParaRPr lang="en-IN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/>
                      </a:endParaRPr>
                    </a:p>
                  </a:txBody>
                  <a:tcPr marL="6336" marR="6336" marT="6336" marB="6336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400" dirty="0">
                          <a:effectLst/>
                        </a:rPr>
                        <a:t>Recognizes faces from pre-stored dataset</a:t>
                      </a:r>
                      <a:endParaRPr lang="en-IN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/>
                      </a:endParaRPr>
                    </a:p>
                  </a:txBody>
                  <a:tcPr marL="6336" marR="6336" marT="6336" marB="6336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400" dirty="0" err="1">
                          <a:effectLst/>
                        </a:rPr>
                        <a:t>Haar</a:t>
                      </a:r>
                      <a:r>
                        <a:rPr lang="en-IN" sz="1400" dirty="0">
                          <a:effectLst/>
                        </a:rPr>
                        <a:t> Cascade, LBPH, </a:t>
                      </a:r>
                      <a:r>
                        <a:rPr lang="en-IN" sz="1400" dirty="0" err="1">
                          <a:effectLst/>
                        </a:rPr>
                        <a:t>DeepFace</a:t>
                      </a:r>
                      <a:endParaRPr lang="en-IN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/>
                      </a:endParaRPr>
                    </a:p>
                  </a:txBody>
                  <a:tcPr marL="6336" marR="6336" marT="6336" marB="6336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400">
                          <a:effectLst/>
                        </a:rPr>
                        <a:t>Campus security, identity verification</a:t>
                      </a:r>
                      <a:endParaRPr lang="en-IN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/>
                      </a:endParaRPr>
                    </a:p>
                  </a:txBody>
                  <a:tcPr marL="6336" marR="6336" marT="6336" marB="6336" anchor="ctr"/>
                </a:tc>
              </a:tr>
              <a:tr h="7493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400">
                          <a:effectLst/>
                        </a:rPr>
                        <a:t>4</a:t>
                      </a:r>
                      <a:endParaRPr lang="en-IN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/>
                      </a:endParaRPr>
                    </a:p>
                  </a:txBody>
                  <a:tcPr marL="6336" marR="6336" marT="6336" marB="6336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400">
                          <a:effectLst/>
                        </a:rPr>
                        <a:t>Automated Attendance System using Face Recognition</a:t>
                      </a:r>
                      <a:endParaRPr lang="en-IN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/>
                      </a:endParaRPr>
                    </a:p>
                  </a:txBody>
                  <a:tcPr marL="6336" marR="6336" marT="6336" marB="6336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400">
                          <a:effectLst/>
                        </a:rPr>
                        <a:t>Captures faces and marks attendance automatically</a:t>
                      </a:r>
                      <a:endParaRPr lang="en-IN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/>
                      </a:endParaRPr>
                    </a:p>
                  </a:txBody>
                  <a:tcPr marL="6336" marR="6336" marT="6336" marB="6336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400" dirty="0">
                          <a:effectLst/>
                        </a:rPr>
                        <a:t>CNN, </a:t>
                      </a:r>
                      <a:r>
                        <a:rPr lang="en-IN" sz="1400" dirty="0" err="1">
                          <a:effectLst/>
                        </a:rPr>
                        <a:t>DeepFace</a:t>
                      </a:r>
                      <a:endParaRPr lang="en-IN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/>
                      </a:endParaRPr>
                    </a:p>
                  </a:txBody>
                  <a:tcPr marL="6336" marR="6336" marT="6336" marB="6336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400" dirty="0">
                          <a:effectLst/>
                        </a:rPr>
                        <a:t>Schools, workplaces</a:t>
                      </a:r>
                      <a:endParaRPr lang="en-IN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/>
                      </a:endParaRPr>
                    </a:p>
                  </a:txBody>
                  <a:tcPr marL="6336" marR="6336" marT="6336" marB="6336" anchor="ctr"/>
                </a:tc>
              </a:tr>
              <a:tr h="7493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400">
                          <a:effectLst/>
                        </a:rPr>
                        <a:t>5</a:t>
                      </a:r>
                      <a:endParaRPr lang="en-IN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/>
                      </a:endParaRPr>
                    </a:p>
                  </a:txBody>
                  <a:tcPr marL="6336" marR="6336" marT="6336" marB="6336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400">
                          <a:effectLst/>
                        </a:rPr>
                        <a:t>Crowd Density Estimation using Computer Vision</a:t>
                      </a:r>
                      <a:endParaRPr lang="en-IN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/>
                      </a:endParaRPr>
                    </a:p>
                  </a:txBody>
                  <a:tcPr marL="6336" marR="6336" marT="6336" marB="6336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400">
                          <a:effectLst/>
                        </a:rPr>
                        <a:t>Counts individuals to estimate density</a:t>
                      </a:r>
                      <a:endParaRPr lang="en-IN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/>
                      </a:endParaRPr>
                    </a:p>
                  </a:txBody>
                  <a:tcPr marL="6336" marR="6336" marT="6336" marB="6336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400">
                          <a:effectLst/>
                        </a:rPr>
                        <a:t>Object detection, CNN</a:t>
                      </a:r>
                      <a:endParaRPr lang="en-IN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/>
                      </a:endParaRPr>
                    </a:p>
                  </a:txBody>
                  <a:tcPr marL="6336" marR="6336" marT="6336" marB="6336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400" dirty="0">
                          <a:effectLst/>
                        </a:rPr>
                        <a:t>Event safety, public gatherings</a:t>
                      </a:r>
                      <a:endParaRPr lang="en-IN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/>
                      </a:endParaRPr>
                    </a:p>
                  </a:txBody>
                  <a:tcPr marL="6336" marR="6336" marT="6336" marB="6336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7571" y="304800"/>
            <a:ext cx="11736857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Objectives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360"/>
              </a:lnSpc>
            </a:pPr>
            <a:r>
              <a:rPr dirty="0"/>
              <a:t>Department</a:t>
            </a:r>
            <a:r>
              <a:rPr spc="-40" dirty="0"/>
              <a:t> </a:t>
            </a:r>
            <a:r>
              <a:rPr dirty="0"/>
              <a:t>of</a:t>
            </a:r>
            <a:r>
              <a:rPr spc="-55" dirty="0"/>
              <a:t> </a:t>
            </a:r>
            <a:r>
              <a:rPr spc="-10" dirty="0"/>
              <a:t>Computer</a:t>
            </a:r>
            <a:r>
              <a:rPr spc="-60" dirty="0"/>
              <a:t> </a:t>
            </a:r>
            <a:r>
              <a:rPr spc="-10" dirty="0"/>
              <a:t>Science</a:t>
            </a:r>
          </a:p>
          <a:p>
            <a:pPr algn="ctr">
              <a:lnSpc>
                <a:spcPct val="100000"/>
              </a:lnSpc>
            </a:pPr>
            <a:r>
              <a:rPr spc="-10" dirty="0"/>
              <a:t>Engineering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xfrm>
            <a:off x="911225" y="6612504"/>
            <a:ext cx="1028064" cy="3642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60"/>
              </a:lnSpc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22 Sep 2025</a:t>
            </a:r>
          </a:p>
          <a:p>
            <a:pPr marL="12700">
              <a:lnSpc>
                <a:spcPts val="1360"/>
              </a:lnSpc>
            </a:pPr>
            <a:endParaRPr spc="-20" dirty="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60"/>
              </a:lnSpc>
            </a:pPr>
            <a:fld id="{81D60167-4931-47E6-BA6A-407CBD079E47}" type="slidenum">
              <a:rPr spc="-320" dirty="0"/>
              <a:t>8</a:t>
            </a:fld>
            <a:endParaRPr spc="-320" dirty="0"/>
          </a:p>
        </p:txBody>
      </p:sp>
      <p:sp>
        <p:nvSpPr>
          <p:cNvPr id="10" name="Rectangle 2">
            <a:extLst>
              <a:ext uri="{FF2B5EF4-FFF2-40B4-BE49-F238E27FC236}">
                <a16:creationId xmlns="" xmlns:a16="http://schemas.microsoft.com/office/drawing/2014/main" id="{93D67438-20C5-ECA7-6062-A13E7DDD89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349525"/>
            <a:ext cx="6153339" cy="52629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en-US" sz="1600" dirty="0" smtClean="0"/>
              <a:t>The primary objectives of </a:t>
            </a:r>
            <a:r>
              <a:rPr lang="en-US" sz="1600" b="1" dirty="0" smtClean="0"/>
              <a:t>Drishti: An AI-based Smart Surveillance System</a:t>
            </a:r>
            <a:r>
              <a:rPr lang="en-US" sz="1600" dirty="0" smtClean="0"/>
              <a:t> are:</a:t>
            </a:r>
          </a:p>
          <a:p>
            <a:pPr algn="just"/>
            <a:endParaRPr lang="en-US" sz="1600" dirty="0" smtClean="0"/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US" sz="1600" b="1" dirty="0" smtClean="0"/>
              <a:t>Real-time Detection &amp; Headcount</a:t>
            </a:r>
            <a:r>
              <a:rPr lang="en-US" sz="1600" dirty="0" smtClean="0"/>
              <a:t> – To detect and count individuals using </a:t>
            </a:r>
            <a:r>
              <a:rPr lang="en-US" sz="1600" b="1" dirty="0" smtClean="0"/>
              <a:t>YOLOv8</a:t>
            </a:r>
            <a:r>
              <a:rPr lang="en-US" sz="1600" dirty="0" smtClean="0"/>
              <a:t> with high accuracy.</a:t>
            </a:r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US" sz="1600" b="1" dirty="0" smtClean="0"/>
              <a:t>Facial Recognition</a:t>
            </a:r>
            <a:r>
              <a:rPr lang="en-US" sz="1600" dirty="0" smtClean="0"/>
              <a:t> – To integrate </a:t>
            </a:r>
            <a:r>
              <a:rPr lang="en-US" sz="1600" b="1" dirty="0" err="1" smtClean="0"/>
              <a:t>DeepFace</a:t>
            </a:r>
            <a:r>
              <a:rPr lang="en-US" sz="1600" dirty="0" smtClean="0"/>
              <a:t> for recognizing known individuals and displaying their details.</a:t>
            </a:r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US" sz="1600" b="1" dirty="0" smtClean="0"/>
              <a:t>Privacy Protection</a:t>
            </a:r>
            <a:r>
              <a:rPr lang="en-US" sz="1600" dirty="0" smtClean="0"/>
              <a:t> – To label unrecognized individuals as </a:t>
            </a:r>
            <a:r>
              <a:rPr lang="en-US" sz="1600" b="1" dirty="0" smtClean="0"/>
              <a:t>“Unknown”</a:t>
            </a:r>
            <a:r>
              <a:rPr lang="en-US" sz="1600" dirty="0" smtClean="0"/>
              <a:t> without storing their data, ensuring data privacy.</a:t>
            </a:r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US" sz="1600" b="1" dirty="0" smtClean="0"/>
              <a:t>Database Management</a:t>
            </a:r>
            <a:r>
              <a:rPr lang="en-US" sz="1600" dirty="0" smtClean="0"/>
              <a:t> – To design a secure and scalable database for storing recognized identities and historical records.</a:t>
            </a:r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US" sz="1600" b="1" dirty="0" smtClean="0"/>
              <a:t>Interactive Dashboard</a:t>
            </a:r>
            <a:r>
              <a:rPr lang="en-US" sz="1600" dirty="0" smtClean="0"/>
              <a:t> – To develop a </a:t>
            </a:r>
            <a:r>
              <a:rPr lang="en-US" sz="1600" b="1" dirty="0" smtClean="0"/>
              <a:t>web-based interface</a:t>
            </a:r>
            <a:r>
              <a:rPr lang="en-US" sz="1600" dirty="0" smtClean="0"/>
              <a:t> that shows live video feeds, headcount, alerts, and recognition results.</a:t>
            </a:r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US" sz="1600" b="1" dirty="0" smtClean="0"/>
              <a:t>Automation &amp; Efficiency</a:t>
            </a:r>
            <a:r>
              <a:rPr lang="en-US" sz="1600" dirty="0" smtClean="0"/>
              <a:t> – To reduce dependence on manual surveillance and minimize human error.</a:t>
            </a:r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US" sz="1600" b="1" dirty="0" smtClean="0"/>
              <a:t>Scalability &amp; Future Expansion</a:t>
            </a:r>
            <a:r>
              <a:rPr lang="en-US" sz="1600" dirty="0" smtClean="0"/>
              <a:t> – To build a modular system that can later support </a:t>
            </a:r>
            <a:r>
              <a:rPr lang="en-US" sz="1600" b="1" dirty="0" smtClean="0"/>
              <a:t>multi-camera setups, cloud storage, and mobile notifications</a:t>
            </a:r>
            <a:r>
              <a:rPr lang="en-US" sz="1600" dirty="0" smtClean="0"/>
              <a:t>.</a:t>
            </a:r>
          </a:p>
          <a:p>
            <a:pPr marL="457200" indent="-457200">
              <a:buFont typeface="+mj-lt"/>
              <a:buAutoNum type="arabicPeriod"/>
            </a:pPr>
            <a:endParaRPr lang="en-US" sz="16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0800" y="1271708"/>
            <a:ext cx="5791200" cy="505777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Requirement</a:t>
            </a:r>
            <a:r>
              <a:rPr spc="-210" dirty="0"/>
              <a:t> </a:t>
            </a:r>
            <a:r>
              <a:rPr spc="-10" dirty="0"/>
              <a:t>Analysis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360"/>
              </a:lnSpc>
            </a:pPr>
            <a:r>
              <a:rPr dirty="0"/>
              <a:t>Department</a:t>
            </a:r>
            <a:r>
              <a:rPr spc="-40" dirty="0"/>
              <a:t> </a:t>
            </a:r>
            <a:r>
              <a:rPr dirty="0"/>
              <a:t>of</a:t>
            </a:r>
            <a:r>
              <a:rPr spc="-55" dirty="0"/>
              <a:t> </a:t>
            </a:r>
            <a:r>
              <a:rPr spc="-10" dirty="0"/>
              <a:t>Computer</a:t>
            </a:r>
            <a:r>
              <a:rPr spc="-60" dirty="0"/>
              <a:t> </a:t>
            </a:r>
            <a:r>
              <a:rPr spc="-10" dirty="0"/>
              <a:t>Science</a:t>
            </a:r>
          </a:p>
          <a:p>
            <a:pPr algn="ctr">
              <a:lnSpc>
                <a:spcPct val="100000"/>
              </a:lnSpc>
            </a:pPr>
            <a:r>
              <a:rPr spc="-10" dirty="0"/>
              <a:t>Engineering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xfrm>
            <a:off x="911225" y="6612504"/>
            <a:ext cx="1028064" cy="3642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60"/>
              </a:lnSpc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22 Sep 2025</a:t>
            </a:r>
          </a:p>
          <a:p>
            <a:pPr marL="12700">
              <a:lnSpc>
                <a:spcPts val="1360"/>
              </a:lnSpc>
            </a:pPr>
            <a:endParaRPr spc="-20" dirty="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60"/>
              </a:lnSpc>
            </a:pPr>
            <a:fld id="{81D60167-4931-47E6-BA6A-407CBD079E47}" type="slidenum">
              <a:rPr spc="-320" dirty="0"/>
              <a:t>9</a:t>
            </a:fld>
            <a:endParaRPr spc="-320" dirty="0"/>
          </a:p>
        </p:txBody>
      </p:sp>
      <p:sp>
        <p:nvSpPr>
          <p:cNvPr id="3" name="object 3"/>
          <p:cNvSpPr txBox="1"/>
          <p:nvPr/>
        </p:nvSpPr>
        <p:spPr>
          <a:xfrm>
            <a:off x="96060" y="1388576"/>
            <a:ext cx="11182985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9890" indent="-377190">
              <a:lnSpc>
                <a:spcPct val="100000"/>
              </a:lnSpc>
              <a:spcBef>
                <a:spcPts val="100"/>
              </a:spcBef>
              <a:buClr>
                <a:srgbClr val="0070C0"/>
              </a:buClr>
              <a:buFont typeface="Segoe UI Symbol"/>
              <a:buChar char="❖"/>
              <a:tabLst>
                <a:tab pos="389890" algn="l"/>
              </a:tabLst>
            </a:pPr>
            <a:endParaRPr sz="3200" dirty="0">
              <a:latin typeface="Calibri"/>
              <a:cs typeface="Calibri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234" y="1385123"/>
            <a:ext cx="10440429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14350" indent="-514350" algn="l" rtl="0">
              <a:buAutoNum type="arabicPeriod"/>
            </a:pPr>
            <a:r>
              <a:rPr lang="en-US" sz="3200" b="1" dirty="0">
                <a:latin typeface="+mn-lt"/>
              </a:rPr>
              <a:t>Functional Requirements</a:t>
            </a:r>
          </a:p>
          <a:p>
            <a:pPr algn="l" rtl="0"/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3" name="Rectangle 6">
            <a:extLst>
              <a:ext uri="{FF2B5EF4-FFF2-40B4-BE49-F238E27FC236}">
                <a16:creationId xmlns="" xmlns:a16="http://schemas.microsoft.com/office/drawing/2014/main" id="{CC7A0749-28F8-75A3-0B1A-73CB65DA41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979" y="2056349"/>
            <a:ext cx="11736857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b="1" dirty="0" smtClean="0"/>
              <a:t>Real-Time Person Detection:</a:t>
            </a:r>
            <a:r>
              <a:rPr lang="en-IN" dirty="0" smtClean="0"/>
              <a:t> Detect individuals in video frames using YOLOv8 and provide live headcount.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b="1" dirty="0" smtClean="0"/>
              <a:t>Facial Recognition:</a:t>
            </a:r>
            <a:r>
              <a:rPr lang="en-IN" dirty="0" smtClean="0"/>
              <a:t> Identify known individuals via </a:t>
            </a:r>
            <a:r>
              <a:rPr lang="en-IN" dirty="0" err="1" smtClean="0"/>
              <a:t>DeepFace</a:t>
            </a:r>
            <a:r>
              <a:rPr lang="en-IN" dirty="0" smtClean="0"/>
              <a:t>; unknown individuals </a:t>
            </a:r>
            <a:r>
              <a:rPr lang="en-IN" dirty="0" err="1" smtClean="0"/>
              <a:t>labeled</a:t>
            </a:r>
            <a:r>
              <a:rPr lang="en-IN" dirty="0" smtClean="0"/>
              <a:t> as “Unknown.”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b="1" dirty="0" smtClean="0"/>
              <a:t>Dashboard &amp; Visualization:</a:t>
            </a:r>
            <a:endParaRPr lang="en-IN" dirty="0" smtClean="0"/>
          </a:p>
          <a:p>
            <a:pPr lvl="1"/>
            <a:r>
              <a:rPr lang="en-IN" dirty="0" smtClean="0"/>
              <a:t>         1.Live video feed display.</a:t>
            </a:r>
          </a:p>
          <a:p>
            <a:pPr lvl="1"/>
            <a:r>
              <a:rPr lang="en-IN" dirty="0" smtClean="0"/>
              <a:t>         2.Real-time headcount and recognized individual details.</a:t>
            </a:r>
          </a:p>
          <a:p>
            <a:pPr lvl="1"/>
            <a:r>
              <a:rPr lang="en-IN" dirty="0" smtClean="0"/>
              <a:t>         3.Historical logs and statistics.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b="1" dirty="0" smtClean="0"/>
              <a:t>Database Management:</a:t>
            </a:r>
            <a:r>
              <a:rPr lang="en-IN" dirty="0" smtClean="0"/>
              <a:t> Secure storage of recognized individuals’ data, headcount logs, and timestamps.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b="1" dirty="0" smtClean="0"/>
              <a:t>Alerts &amp; Notifications (Future Scope):</a:t>
            </a:r>
            <a:endParaRPr lang="en-IN" dirty="0" smtClean="0"/>
          </a:p>
          <a:p>
            <a:pPr marL="285750" lvl="1" indent="-285750">
              <a:buFont typeface="Wingdings" panose="05000000000000000000" pitchFamily="2" charset="2"/>
              <a:buChar char="q"/>
            </a:pPr>
            <a:r>
              <a:rPr lang="en-IN" dirty="0" smtClean="0"/>
              <a:t>Overcrowding alerts.</a:t>
            </a:r>
          </a:p>
          <a:p>
            <a:pPr marL="285750" lvl="1" indent="-285750">
              <a:buFont typeface="Wingdings" panose="05000000000000000000" pitchFamily="2" charset="2"/>
              <a:buChar char="q"/>
            </a:pPr>
            <a:r>
              <a:rPr lang="en-IN" dirty="0" smtClean="0"/>
              <a:t>Mobile app notifications for security personnel.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b="1" dirty="0" smtClean="0"/>
              <a:t>System Scalability (Future Scope):</a:t>
            </a:r>
            <a:r>
              <a:rPr lang="en-IN" dirty="0" smtClean="0"/>
              <a:t> Multi-camera support, cloud integration, and large-scale deployment.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26027EF4-A9F9-8B21-AE6B-672A993B50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B26439A0-C498-EF14-D790-71B1A6C9FA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Continue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6672FCCD-4636-462D-B0A2-EA0A2EA908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6060" y="1504142"/>
            <a:ext cx="11562540" cy="741976"/>
          </a:xfrm>
        </p:spPr>
        <p:txBody>
          <a:bodyPr/>
          <a:lstStyle/>
          <a:p>
            <a:r>
              <a:rPr lang="en-US" b="1" dirty="0">
                <a:latin typeface="+mn-lt"/>
              </a:rPr>
              <a:t>2. Non-Functional </a:t>
            </a:r>
            <a:r>
              <a:rPr lang="en-US" b="1" dirty="0" smtClean="0">
                <a:latin typeface="+mn-lt"/>
              </a:rPr>
              <a:t>Requirements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b="1" dirty="0">
              <a:latin typeface="+mn-lt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b="1" dirty="0" smtClean="0">
              <a:latin typeface="+mn-lt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b="1" dirty="0">
              <a:latin typeface="+mn-lt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/>
          </a:p>
          <a:p>
            <a:endParaRPr lang="en-US" sz="2800" dirty="0">
              <a:latin typeface="+mn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261725F0-68B4-349C-6067-5489FD943FA2}"/>
              </a:ext>
            </a:extLst>
          </p:cNvPr>
          <p:cNvSpPr txBox="1"/>
          <p:nvPr/>
        </p:nvSpPr>
        <p:spPr>
          <a:xfrm>
            <a:off x="251714" y="6486265"/>
            <a:ext cx="129143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i="1" dirty="0" smtClean="0">
                <a:latin typeface="Arial" panose="020B0604020202020204" pitchFamily="34" charset="0"/>
                <a:cs typeface="Arial" panose="020B0604020202020204" pitchFamily="34" charset="0"/>
              </a:rPr>
              <a:t>22 Sep 2025</a:t>
            </a:r>
          </a:p>
          <a:p>
            <a:endParaRPr lang="en-US" sz="1200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6D7452F7-7C52-823A-88D6-64B29E44DFB8}"/>
              </a:ext>
            </a:extLst>
          </p:cNvPr>
          <p:cNvSpPr txBox="1"/>
          <p:nvPr/>
        </p:nvSpPr>
        <p:spPr>
          <a:xfrm>
            <a:off x="4267200" y="6413937"/>
            <a:ext cx="2590800" cy="456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60"/>
              </a:lnSpc>
            </a:pPr>
            <a:r>
              <a:rPr lang="en-US" sz="1200" i="1" dirty="0"/>
              <a:t>Department</a:t>
            </a:r>
            <a:r>
              <a:rPr lang="en-US" sz="1200" i="1" spc="-40" dirty="0"/>
              <a:t> </a:t>
            </a:r>
            <a:r>
              <a:rPr lang="en-US" sz="1200" i="1" dirty="0"/>
              <a:t>of</a:t>
            </a:r>
            <a:r>
              <a:rPr lang="en-US" sz="1200" i="1" spc="-55" dirty="0"/>
              <a:t> </a:t>
            </a:r>
            <a:r>
              <a:rPr lang="en-US" sz="1200" i="1" spc="-10" dirty="0"/>
              <a:t>Computer</a:t>
            </a:r>
            <a:r>
              <a:rPr lang="en-US" sz="1200" i="1" spc="-60" dirty="0"/>
              <a:t> </a:t>
            </a:r>
            <a:r>
              <a:rPr lang="en-US" sz="1200" i="1" spc="-10" dirty="0"/>
              <a:t>Science</a:t>
            </a:r>
          </a:p>
          <a:p>
            <a:pPr algn="ctr">
              <a:lnSpc>
                <a:spcPct val="100000"/>
              </a:lnSpc>
            </a:pPr>
            <a:r>
              <a:rPr lang="en-US" sz="1200" i="1" spc="-10" dirty="0"/>
              <a:t>Engineering</a:t>
            </a:r>
          </a:p>
        </p:txBody>
      </p:sp>
      <p:sp>
        <p:nvSpPr>
          <p:cNvPr id="10" name="Rectangle 6">
            <a:extLst>
              <a:ext uri="{FF2B5EF4-FFF2-40B4-BE49-F238E27FC236}">
                <a16:creationId xmlns="" xmlns:a16="http://schemas.microsoft.com/office/drawing/2014/main" id="{CC7A0749-28F8-75A3-0B1A-73CB65DA41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060" y="2246118"/>
            <a:ext cx="11736857" cy="3477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000" b="1" dirty="0" smtClean="0"/>
              <a:t>Performance:</a:t>
            </a:r>
            <a:r>
              <a:rPr lang="en-US" sz="2000" dirty="0" smtClean="0"/>
              <a:t> Real-time processing with minimal latency; optimized CPU/GPU usage.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000" b="1" dirty="0" smtClean="0"/>
              <a:t>Security &amp; Privacy:</a:t>
            </a:r>
            <a:endParaRPr lang="en-US" sz="2000" dirty="0" smtClean="0"/>
          </a:p>
          <a:p>
            <a:r>
              <a:rPr lang="en-US" sz="2000" dirty="0" smtClean="0"/>
              <a:t>         1.Unknown individuals’ data is not stored.</a:t>
            </a:r>
          </a:p>
          <a:p>
            <a:r>
              <a:rPr lang="en-US" sz="2000" dirty="0" smtClean="0"/>
              <a:t>         2.Secure communication via HTTPS/SSL.</a:t>
            </a:r>
          </a:p>
          <a:p>
            <a:r>
              <a:rPr lang="en-US" sz="2000" dirty="0" smtClean="0"/>
              <a:t>         3.Optional dashboard access authentication.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000" b="1" dirty="0" smtClean="0"/>
              <a:t>Usability &amp; Accessibility:</a:t>
            </a:r>
            <a:r>
              <a:rPr lang="en-US" sz="2000" dirty="0" smtClean="0"/>
              <a:t> Intuitive and responsive dashboard; high-contrast colors, clear icons, and easy navigation.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000" b="1" dirty="0" smtClean="0"/>
              <a:t>Reliability &amp; Availability:</a:t>
            </a:r>
            <a:r>
              <a:rPr lang="en-US" sz="2000" dirty="0" smtClean="0"/>
              <a:t> Continuous operation without crashes; secure and consistent database storage</a:t>
            </a:r>
            <a:r>
              <a:rPr lang="en-IN" sz="2000" dirty="0" smtClean="0"/>
              <a:t>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sz="2000" b="1" dirty="0" smtClean="0"/>
              <a:t>Scalability &amp; Extensibility:</a:t>
            </a:r>
            <a:r>
              <a:rPr lang="en-IN" sz="2000" dirty="0" smtClean="0"/>
              <a:t> Modular design to support future multi-camera setups, cloud storage, and mobile integration..</a:t>
            </a:r>
          </a:p>
        </p:txBody>
      </p:sp>
    </p:spTree>
    <p:extLst>
      <p:ext uri="{BB962C8B-B14F-4D97-AF65-F5344CB8AC3E}">
        <p14:creationId xmlns:p14="http://schemas.microsoft.com/office/powerpoint/2010/main" val="4326712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Solution</a:t>
            </a:r>
            <a:r>
              <a:rPr spc="-40" dirty="0"/>
              <a:t> </a:t>
            </a:r>
            <a:r>
              <a:rPr spc="-10" dirty="0"/>
              <a:t>Proposed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360"/>
              </a:lnSpc>
            </a:pPr>
            <a:r>
              <a:rPr dirty="0"/>
              <a:t>Department</a:t>
            </a:r>
            <a:r>
              <a:rPr spc="-40" dirty="0"/>
              <a:t> </a:t>
            </a:r>
            <a:r>
              <a:rPr dirty="0"/>
              <a:t>of</a:t>
            </a:r>
            <a:r>
              <a:rPr spc="-55" dirty="0"/>
              <a:t> </a:t>
            </a:r>
            <a:r>
              <a:rPr spc="-10" dirty="0"/>
              <a:t>Computer</a:t>
            </a:r>
            <a:r>
              <a:rPr spc="-60" dirty="0"/>
              <a:t> </a:t>
            </a:r>
            <a:r>
              <a:rPr spc="-10" dirty="0"/>
              <a:t>Science</a:t>
            </a:r>
          </a:p>
          <a:p>
            <a:pPr algn="ctr">
              <a:lnSpc>
                <a:spcPct val="100000"/>
              </a:lnSpc>
            </a:pPr>
            <a:r>
              <a:rPr spc="-10" dirty="0"/>
              <a:t>Engineering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xfrm>
            <a:off x="911225" y="6612504"/>
            <a:ext cx="1028064" cy="3642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60"/>
              </a:lnSpc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22 Sep 2025</a:t>
            </a:r>
          </a:p>
          <a:p>
            <a:pPr marL="12700">
              <a:lnSpc>
                <a:spcPts val="1360"/>
              </a:lnSpc>
            </a:pPr>
            <a:endParaRPr spc="-20" dirty="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60"/>
              </a:lnSpc>
            </a:pPr>
            <a:fld id="{81D60167-4931-47E6-BA6A-407CBD079E47}" type="slidenum">
              <a:rPr spc="-320" dirty="0"/>
              <a:t>11</a:t>
            </a:fld>
            <a:endParaRPr spc="-320" dirty="0"/>
          </a:p>
        </p:txBody>
      </p:sp>
      <p:sp>
        <p:nvSpPr>
          <p:cNvPr id="3" name="object 3"/>
          <p:cNvSpPr txBox="1"/>
          <p:nvPr/>
        </p:nvSpPr>
        <p:spPr>
          <a:xfrm>
            <a:off x="97694" y="1348472"/>
            <a:ext cx="11583428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sz="2400" dirty="0"/>
              <a:t>The proposed solution </a:t>
            </a:r>
            <a:r>
              <a:rPr lang="en-US" sz="2400" dirty="0" smtClean="0"/>
              <a:t>for Drishti is:</a:t>
            </a:r>
            <a:endParaRPr sz="2400" dirty="0">
              <a:latin typeface="Calibri"/>
              <a:cs typeface="Calibri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3820" y="1469672"/>
            <a:ext cx="10671175" cy="53721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8600" y="401460"/>
            <a:ext cx="201358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5" dirty="0"/>
              <a:t>Features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360"/>
              </a:lnSpc>
            </a:pPr>
            <a:r>
              <a:rPr dirty="0"/>
              <a:t>Department</a:t>
            </a:r>
            <a:r>
              <a:rPr spc="-40" dirty="0"/>
              <a:t> </a:t>
            </a:r>
            <a:r>
              <a:rPr dirty="0"/>
              <a:t>of</a:t>
            </a:r>
            <a:r>
              <a:rPr spc="-55" dirty="0"/>
              <a:t> </a:t>
            </a:r>
            <a:r>
              <a:rPr spc="-10" dirty="0"/>
              <a:t>Computer</a:t>
            </a:r>
            <a:r>
              <a:rPr spc="-60" dirty="0"/>
              <a:t> </a:t>
            </a:r>
            <a:r>
              <a:rPr spc="-10" dirty="0"/>
              <a:t>Science</a:t>
            </a:r>
          </a:p>
          <a:p>
            <a:pPr algn="ctr">
              <a:lnSpc>
                <a:spcPct val="100000"/>
              </a:lnSpc>
            </a:pPr>
            <a:r>
              <a:rPr spc="-10" dirty="0"/>
              <a:t>Engineering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xfrm>
            <a:off x="911225" y="6612504"/>
            <a:ext cx="1028064" cy="3642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60"/>
              </a:lnSpc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22 Sep 2025</a:t>
            </a:r>
          </a:p>
          <a:p>
            <a:pPr marL="12700">
              <a:lnSpc>
                <a:spcPts val="1360"/>
              </a:lnSpc>
            </a:pPr>
            <a:endParaRPr spc="-20" dirty="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60"/>
              </a:lnSpc>
            </a:pPr>
            <a:fld id="{81D60167-4931-47E6-BA6A-407CBD079E47}" type="slidenum">
              <a:rPr spc="-320" dirty="0"/>
              <a:t>12</a:t>
            </a:fld>
            <a:endParaRPr spc="-320" dirty="0"/>
          </a:p>
        </p:txBody>
      </p:sp>
      <p:sp>
        <p:nvSpPr>
          <p:cNvPr id="7" name="Rectangle 2">
            <a:extLst>
              <a:ext uri="{FF2B5EF4-FFF2-40B4-BE49-F238E27FC236}">
                <a16:creationId xmlns="" xmlns:a16="http://schemas.microsoft.com/office/drawing/2014/main" id="{FBFF2634-A901-4CA3-F206-DC8862E94F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476701"/>
            <a:ext cx="11277600" cy="5078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b="1" dirty="0" smtClean="0"/>
              <a:t>Features of Drishti :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b="1" dirty="0" smtClean="0"/>
              <a:t>Real-Time Person Detection</a:t>
            </a:r>
            <a:endParaRPr lang="en-US" dirty="0" smtClean="0"/>
          </a:p>
          <a:p>
            <a:r>
              <a:rPr lang="en-US" dirty="0" smtClean="0"/>
              <a:t>     Detects individuals in live video feeds using </a:t>
            </a:r>
            <a:r>
              <a:rPr lang="en-US" b="1" dirty="0" smtClean="0"/>
              <a:t>YOLOv8</a:t>
            </a:r>
            <a:r>
              <a:rPr lang="en-US" dirty="0" smtClean="0"/>
              <a:t>.</a:t>
            </a:r>
          </a:p>
          <a:p>
            <a:r>
              <a:rPr lang="en-US" dirty="0" smtClean="0"/>
              <a:t>     Provides </a:t>
            </a:r>
            <a:r>
              <a:rPr lang="en-US" b="1" dirty="0" smtClean="0"/>
              <a:t>instant headcount</a:t>
            </a:r>
            <a:r>
              <a:rPr lang="en-US" dirty="0" smtClean="0"/>
              <a:t> for monitoring crowd density.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b="1" dirty="0" smtClean="0"/>
              <a:t>Facial Recognition</a:t>
            </a:r>
            <a:endParaRPr lang="en-US" dirty="0" smtClean="0"/>
          </a:p>
          <a:p>
            <a:r>
              <a:rPr lang="en-US" dirty="0" smtClean="0"/>
              <a:t>     Identifies </a:t>
            </a:r>
            <a:r>
              <a:rPr lang="en-US" b="1" dirty="0" smtClean="0"/>
              <a:t>known individuals</a:t>
            </a:r>
            <a:r>
              <a:rPr lang="en-US" dirty="0" smtClean="0"/>
              <a:t> using </a:t>
            </a:r>
            <a:r>
              <a:rPr lang="en-US" b="1" dirty="0" err="1" smtClean="0"/>
              <a:t>DeepFace</a:t>
            </a:r>
            <a:r>
              <a:rPr lang="en-US" dirty="0" smtClean="0"/>
              <a:t>.</a:t>
            </a:r>
          </a:p>
          <a:p>
            <a:r>
              <a:rPr lang="en-US" dirty="0" smtClean="0"/>
              <a:t>     Labels </a:t>
            </a:r>
            <a:r>
              <a:rPr lang="en-US" b="1" dirty="0" smtClean="0"/>
              <a:t>unknown persons as “Unknown”</a:t>
            </a:r>
            <a:r>
              <a:rPr lang="en-US" dirty="0" smtClean="0"/>
              <a:t> to maintain privacy.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b="1" dirty="0" smtClean="0"/>
              <a:t>Interactive Dashboard</a:t>
            </a:r>
            <a:endParaRPr lang="en-US" dirty="0" smtClean="0"/>
          </a:p>
          <a:p>
            <a:r>
              <a:rPr lang="en-US" dirty="0" smtClean="0"/>
              <a:t>     Web-based interface for </a:t>
            </a:r>
            <a:r>
              <a:rPr lang="en-US" b="1" dirty="0" smtClean="0"/>
              <a:t>live video feed, headcount, alerts</a:t>
            </a:r>
            <a:r>
              <a:rPr lang="en-US" dirty="0" smtClean="0"/>
              <a:t>, and recognized persons.</a:t>
            </a:r>
          </a:p>
          <a:p>
            <a:r>
              <a:rPr lang="en-US" dirty="0" smtClean="0"/>
              <a:t>     Displays </a:t>
            </a:r>
            <a:r>
              <a:rPr lang="en-US" b="1" dirty="0" smtClean="0"/>
              <a:t>historical logs and statistics</a:t>
            </a:r>
            <a:r>
              <a:rPr lang="en-US" dirty="0" smtClean="0"/>
              <a:t> for analysis.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b="1" dirty="0" smtClean="0"/>
              <a:t>Privacy-Aware Monitoring</a:t>
            </a:r>
            <a:endParaRPr lang="en-US" dirty="0" smtClean="0"/>
          </a:p>
          <a:p>
            <a:r>
              <a:rPr lang="en-US" dirty="0" smtClean="0"/>
              <a:t>     Unknown individuals’ data is </a:t>
            </a:r>
            <a:r>
              <a:rPr lang="en-US" b="1" dirty="0" smtClean="0"/>
              <a:t>not stored</a:t>
            </a:r>
            <a:r>
              <a:rPr lang="en-US" dirty="0" smtClean="0"/>
              <a:t>, ensuring compliance with privacy standards.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b="1" dirty="0" smtClean="0"/>
              <a:t>Database Management</a:t>
            </a:r>
            <a:endParaRPr lang="en-US" dirty="0" smtClean="0"/>
          </a:p>
          <a:p>
            <a:r>
              <a:rPr lang="en-US" dirty="0" smtClean="0"/>
              <a:t>     Stores recognized individuals’ details, timestamps, and headcount logs securely.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b="1" dirty="0" smtClean="0"/>
              <a:t>User-Friendly Interface</a:t>
            </a:r>
            <a:endParaRPr lang="en-US" dirty="0" smtClean="0"/>
          </a:p>
          <a:p>
            <a:r>
              <a:rPr lang="en-US" b="1" dirty="0" smtClean="0"/>
              <a:t>     Intuitive, responsive, and clean layout</a:t>
            </a:r>
            <a:r>
              <a:rPr lang="en-US" dirty="0" smtClean="0"/>
              <a:t>.</a:t>
            </a:r>
          </a:p>
          <a:p>
            <a:r>
              <a:rPr lang="en-US" dirty="0" smtClean="0"/>
              <a:t>     Designed for </a:t>
            </a:r>
            <a:r>
              <a:rPr lang="en-US" b="1" dirty="0" smtClean="0"/>
              <a:t>quick monitoring</a:t>
            </a:r>
            <a:r>
              <a:rPr lang="en-US" dirty="0" smtClean="0"/>
              <a:t> with minimal interaction.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1A57995D-BCA2-941A-D826-AC76F479C8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Features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7F262A24-5084-B965-4B50-186A2DF44CC6}"/>
              </a:ext>
            </a:extLst>
          </p:cNvPr>
          <p:cNvSpPr txBox="1"/>
          <p:nvPr/>
        </p:nvSpPr>
        <p:spPr>
          <a:xfrm>
            <a:off x="227571" y="6578436"/>
            <a:ext cx="1219200" cy="456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ts val="1360"/>
              </a:lnSpc>
            </a:pPr>
            <a:r>
              <a:rPr lang="en-US" sz="1200" i="1" dirty="0" smtClean="0">
                <a:latin typeface="Arial" panose="020B0604020202020204" pitchFamily="34" charset="0"/>
                <a:cs typeface="Arial" panose="020B0604020202020204" pitchFamily="34" charset="0"/>
              </a:rPr>
              <a:t>22 Sep 2025</a:t>
            </a:r>
          </a:p>
          <a:p>
            <a:pPr marL="12700">
              <a:lnSpc>
                <a:spcPts val="1360"/>
              </a:lnSpc>
            </a:pPr>
            <a:endParaRPr lang="en-US" sz="1200" i="1" spc="-2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50587BF1-44B4-D4B1-75F0-05B1CE0F12DC}"/>
              </a:ext>
            </a:extLst>
          </p:cNvPr>
          <p:cNvSpPr txBox="1"/>
          <p:nvPr/>
        </p:nvSpPr>
        <p:spPr>
          <a:xfrm>
            <a:off x="4267200" y="6413937"/>
            <a:ext cx="2590800" cy="456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60"/>
              </a:lnSpc>
            </a:pPr>
            <a:r>
              <a:rPr lang="en-US" sz="1200" i="1" dirty="0"/>
              <a:t>Department</a:t>
            </a:r>
            <a:r>
              <a:rPr lang="en-US" sz="1200" i="1" spc="-40" dirty="0"/>
              <a:t> </a:t>
            </a:r>
            <a:r>
              <a:rPr lang="en-US" sz="1200" i="1" dirty="0"/>
              <a:t>of</a:t>
            </a:r>
            <a:r>
              <a:rPr lang="en-US" sz="1200" i="1" spc="-55" dirty="0"/>
              <a:t> </a:t>
            </a:r>
            <a:r>
              <a:rPr lang="en-US" sz="1200" i="1" spc="-10" dirty="0"/>
              <a:t>Computer</a:t>
            </a:r>
            <a:r>
              <a:rPr lang="en-US" sz="1200" i="1" spc="-60" dirty="0"/>
              <a:t> </a:t>
            </a:r>
            <a:r>
              <a:rPr lang="en-US" sz="1200" i="1" spc="-10" dirty="0"/>
              <a:t>Science</a:t>
            </a:r>
          </a:p>
          <a:p>
            <a:pPr algn="ctr">
              <a:lnSpc>
                <a:spcPct val="100000"/>
              </a:lnSpc>
            </a:pPr>
            <a:r>
              <a:rPr lang="en-US" sz="1200" i="1" spc="-10" dirty="0"/>
              <a:t>Engineering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800" y="1023698"/>
            <a:ext cx="9459983" cy="5652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33630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System</a:t>
            </a:r>
            <a:r>
              <a:rPr spc="-245" dirty="0"/>
              <a:t> </a:t>
            </a:r>
            <a:r>
              <a:rPr spc="-10" dirty="0"/>
              <a:t>Architecture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360"/>
              </a:lnSpc>
            </a:pPr>
            <a:r>
              <a:rPr dirty="0"/>
              <a:t>Department</a:t>
            </a:r>
            <a:r>
              <a:rPr spc="-40" dirty="0"/>
              <a:t> </a:t>
            </a:r>
            <a:r>
              <a:rPr dirty="0"/>
              <a:t>of</a:t>
            </a:r>
            <a:r>
              <a:rPr spc="-55" dirty="0"/>
              <a:t> </a:t>
            </a:r>
            <a:r>
              <a:rPr spc="-10" dirty="0"/>
              <a:t>Computer</a:t>
            </a:r>
            <a:r>
              <a:rPr spc="-60" dirty="0"/>
              <a:t> </a:t>
            </a:r>
            <a:r>
              <a:rPr spc="-10" dirty="0"/>
              <a:t>Science</a:t>
            </a:r>
          </a:p>
          <a:p>
            <a:pPr algn="ctr">
              <a:lnSpc>
                <a:spcPct val="100000"/>
              </a:lnSpc>
            </a:pPr>
            <a:r>
              <a:rPr spc="-10" dirty="0"/>
              <a:t>Engineering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xfrm>
            <a:off x="911225" y="6612504"/>
            <a:ext cx="1028064" cy="3642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60"/>
              </a:lnSpc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22 Sep 2025</a:t>
            </a:r>
          </a:p>
          <a:p>
            <a:pPr marL="12700">
              <a:lnSpc>
                <a:spcPts val="1360"/>
              </a:lnSpc>
            </a:pPr>
            <a:endParaRPr spc="-20" dirty="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60"/>
              </a:lnSpc>
            </a:pPr>
            <a:fld id="{81D60167-4931-47E6-BA6A-407CBD079E47}" type="slidenum">
              <a:rPr spc="-320" dirty="0"/>
              <a:t>14</a:t>
            </a:fld>
            <a:endParaRPr spc="-320" dirty="0"/>
          </a:p>
        </p:txBody>
      </p:sp>
      <p:sp>
        <p:nvSpPr>
          <p:cNvPr id="8" name="TextBox 7">
            <a:extLst>
              <a:ext uri="{FF2B5EF4-FFF2-40B4-BE49-F238E27FC236}">
                <a16:creationId xmlns="" xmlns:a16="http://schemas.microsoft.com/office/drawing/2014/main" id="{0BB09018-74DB-5B05-7C64-B2A02D48FB0F}"/>
              </a:ext>
            </a:extLst>
          </p:cNvPr>
          <p:cNvSpPr txBox="1"/>
          <p:nvPr/>
        </p:nvSpPr>
        <p:spPr>
          <a:xfrm>
            <a:off x="124345" y="1385123"/>
            <a:ext cx="12067655" cy="5324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smtClean="0"/>
              <a:t>The system architecture of the </a:t>
            </a:r>
            <a:r>
              <a:rPr lang="en-US" b="1" dirty="0" err="1" smtClean="0"/>
              <a:t>Drishti</a:t>
            </a:r>
            <a:r>
              <a:rPr lang="en-US" b="1" dirty="0" smtClean="0"/>
              <a:t> – AI-based Smart Surveillance System</a:t>
            </a:r>
            <a:r>
              <a:rPr lang="en-US" dirty="0" smtClean="0"/>
              <a:t> is divided into multiple modules, each performing a specific task to ensure real-time detection, recognition, and secure monitoring.</a:t>
            </a:r>
          </a:p>
          <a:p>
            <a:r>
              <a:rPr lang="en-US" sz="1600" b="1" dirty="0" smtClean="0"/>
              <a:t>Main </a:t>
            </a:r>
            <a:r>
              <a:rPr lang="en-US" sz="1600" b="1" dirty="0"/>
              <a:t>Components:</a:t>
            </a:r>
            <a:endParaRPr lang="en-US" sz="1600" dirty="0"/>
          </a:p>
          <a:p>
            <a:r>
              <a:rPr lang="en-US" b="1" dirty="0" smtClean="0"/>
              <a:t>1. Video Capture &amp; Input Layer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Captures live video stream using a webcam or IP camera. The video feed serves as the input for real-time processing and analysis.</a:t>
            </a:r>
          </a:p>
          <a:p>
            <a:r>
              <a:rPr lang="en-US" b="1" dirty="0" smtClean="0"/>
              <a:t>2. Person Detection Module (YOLOv8)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Performs object detection on each video frame to identify and count individuals. It tracks movement and crowd density dynamically.</a:t>
            </a:r>
          </a:p>
          <a:p>
            <a:r>
              <a:rPr lang="en-US" b="1" dirty="0" smtClean="0"/>
              <a:t>3. Facial Recognition Module (</a:t>
            </a:r>
            <a:r>
              <a:rPr lang="en-US" b="1" dirty="0" err="1" smtClean="0"/>
              <a:t>DeepFace</a:t>
            </a:r>
            <a:r>
              <a:rPr lang="en-US" b="1" dirty="0" smtClean="0"/>
              <a:t>)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Extracts and compares facial features with a pre-stored dataset to identify known individuals. Unknown persons are labeled as “Unknown” to maintain privacy.</a:t>
            </a:r>
          </a:p>
          <a:p>
            <a:r>
              <a:rPr lang="en-US" b="1" dirty="0" smtClean="0"/>
              <a:t>4. Backend Processing &amp; Database Management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Handles data processing, model integration, and communication between the frontend and database. Stores details of recognized individuals and headcount logs securely.</a:t>
            </a:r>
          </a:p>
          <a:p>
            <a:r>
              <a:rPr lang="en-US" b="1" dirty="0" smtClean="0"/>
              <a:t>5. Dashboard &amp; Visualization Layer (Frontend)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Displays live video feed, headcount, recognized individuals, and alerts through an interactive web dashboard built using HTML, CSS, and JavaScript/React.</a:t>
            </a:r>
          </a:p>
          <a:p>
            <a:pPr>
              <a:buNone/>
            </a:pP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System Architecture Diagram </a:t>
            </a:r>
            <a:endParaRPr lang="en-IN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1676400"/>
            <a:ext cx="11124715" cy="46331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897374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User</a:t>
            </a:r>
            <a:r>
              <a:rPr spc="-20" dirty="0"/>
              <a:t> Interface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60"/>
              </a:lnSpc>
            </a:pPr>
            <a:fld id="{81D60167-4931-47E6-BA6A-407CBD079E47}" type="slidenum">
              <a:rPr spc="-320" dirty="0"/>
              <a:t>16</a:t>
            </a:fld>
            <a:endParaRPr spc="-320" dirty="0"/>
          </a:p>
        </p:txBody>
      </p:sp>
      <p:sp>
        <p:nvSpPr>
          <p:cNvPr id="8" name="TextBox 7">
            <a:extLst>
              <a:ext uri="{FF2B5EF4-FFF2-40B4-BE49-F238E27FC236}">
                <a16:creationId xmlns="" xmlns:a16="http://schemas.microsoft.com/office/drawing/2014/main" id="{7C3DBF24-7E44-ED60-5978-02D3C877B1BB}"/>
              </a:ext>
            </a:extLst>
          </p:cNvPr>
          <p:cNvSpPr txBox="1"/>
          <p:nvPr/>
        </p:nvSpPr>
        <p:spPr>
          <a:xfrm>
            <a:off x="76200" y="1371600"/>
            <a:ext cx="11736856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smtClean="0"/>
              <a:t>The user interface of </a:t>
            </a:r>
            <a:r>
              <a:rPr lang="en-US" dirty="0" err="1" smtClean="0"/>
              <a:t>Drishti</a:t>
            </a:r>
            <a:r>
              <a:rPr lang="en-US" dirty="0" smtClean="0"/>
              <a:t> is designed to be </a:t>
            </a:r>
            <a:r>
              <a:rPr lang="en-US" b="1" dirty="0" smtClean="0"/>
              <a:t>intuitive, responsive, and informative</a:t>
            </a:r>
            <a:r>
              <a:rPr lang="en-US" dirty="0" smtClean="0"/>
              <a:t>, allowing security personnel to monitor real-time video, crowd status, and recognized individuals efficiently. The focus is on </a:t>
            </a:r>
            <a:r>
              <a:rPr lang="en-US" b="1" dirty="0" smtClean="0"/>
              <a:t>clarity, accessibility, and minimal interaction</a:t>
            </a:r>
            <a:r>
              <a:rPr lang="en-US" dirty="0" smtClean="0"/>
              <a:t>, so that operators can make quick decisions without confusion.</a:t>
            </a:r>
          </a:p>
          <a:p>
            <a:r>
              <a:rPr lang="en-US" b="1" dirty="0" smtClean="0"/>
              <a:t>Key Components:</a:t>
            </a:r>
            <a:endParaRPr lang="en-US" dirty="0" smtClean="0"/>
          </a:p>
          <a:p>
            <a:r>
              <a:rPr lang="en-US" b="1" dirty="0" smtClean="0"/>
              <a:t>1.Dashboard Layout</a:t>
            </a:r>
            <a:endParaRPr lang="en-US" dirty="0" smtClean="0"/>
          </a:p>
          <a:p>
            <a:pPr marL="285750" lvl="1" indent="-285750">
              <a:buFont typeface="Wingdings" panose="05000000000000000000" pitchFamily="2" charset="2"/>
              <a:buChar char="q"/>
            </a:pPr>
            <a:r>
              <a:rPr lang="en-US" b="1" dirty="0" smtClean="0"/>
              <a:t>Live Video Feed Panel:</a:t>
            </a:r>
            <a:r>
              <a:rPr lang="en-US" dirty="0" smtClean="0"/>
              <a:t> Displays the real-time camera feed in the largest section of the screen.</a:t>
            </a:r>
          </a:p>
          <a:p>
            <a:pPr marL="285750" lvl="1" indent="-285750">
              <a:buFont typeface="Wingdings" panose="05000000000000000000" pitchFamily="2" charset="2"/>
              <a:buChar char="q"/>
            </a:pPr>
            <a:r>
              <a:rPr lang="en-US" b="1" dirty="0" smtClean="0"/>
              <a:t>Headcount Display:</a:t>
            </a:r>
            <a:r>
              <a:rPr lang="en-US" dirty="0" smtClean="0"/>
              <a:t> Shows the total number of people detected in real time.</a:t>
            </a:r>
          </a:p>
          <a:p>
            <a:pPr marL="285750" lvl="1" indent="-285750">
              <a:buFont typeface="Wingdings" panose="05000000000000000000" pitchFamily="2" charset="2"/>
              <a:buChar char="q"/>
            </a:pPr>
            <a:r>
              <a:rPr lang="en-US" b="1" dirty="0" smtClean="0"/>
              <a:t>Recognized Individuals Panel:</a:t>
            </a:r>
            <a:r>
              <a:rPr lang="en-US" dirty="0" smtClean="0"/>
              <a:t> Lists names and details of recognized persons; unknown individuals are labeled as “Unknown.”</a:t>
            </a:r>
          </a:p>
          <a:p>
            <a:r>
              <a:rPr lang="en-US" b="1" dirty="0" smtClean="0"/>
              <a:t>2.Navigation &amp; Interaction</a:t>
            </a:r>
            <a:endParaRPr lang="en-US" dirty="0" smtClean="0"/>
          </a:p>
          <a:p>
            <a:pPr marL="285750" lvl="1" indent="-285750">
              <a:buFont typeface="Wingdings" panose="05000000000000000000" pitchFamily="2" charset="2"/>
              <a:buChar char="q"/>
            </a:pPr>
            <a:r>
              <a:rPr lang="en-US" dirty="0" smtClean="0"/>
              <a:t>Minimal buttons for starting/stopping monitoring.</a:t>
            </a:r>
          </a:p>
          <a:p>
            <a:pPr marL="285750" lvl="1" indent="-285750">
              <a:buFont typeface="Wingdings" panose="05000000000000000000" pitchFamily="2" charset="2"/>
              <a:buChar char="q"/>
            </a:pPr>
            <a:r>
              <a:rPr lang="en-US" dirty="0" smtClean="0"/>
              <a:t>Hover or click-based details for zone statistics or individual histories.</a:t>
            </a:r>
          </a:p>
          <a:p>
            <a:pPr marL="285750" lvl="1" indent="-285750">
              <a:buFont typeface="Wingdings" panose="05000000000000000000" pitchFamily="2" charset="2"/>
              <a:buChar char="q"/>
            </a:pPr>
            <a:r>
              <a:rPr lang="en-US" dirty="0" smtClean="0"/>
              <a:t>Responsive design ensures usability across desktops, laptops, and large-screen tablets.</a:t>
            </a:r>
          </a:p>
          <a:p>
            <a:r>
              <a:rPr lang="en-US" b="1" dirty="0" smtClean="0"/>
              <a:t>3.Visual Design &amp; Accessibility</a:t>
            </a:r>
            <a:endParaRPr lang="en-US" dirty="0" smtClean="0"/>
          </a:p>
          <a:p>
            <a:pPr marL="285750" lvl="1" indent="-285750">
              <a:buFont typeface="Wingdings" panose="05000000000000000000" pitchFamily="2" charset="2"/>
              <a:buChar char="q"/>
            </a:pPr>
            <a:r>
              <a:rPr lang="en-US" dirty="0" smtClean="0"/>
              <a:t>High-contrast colors, large fonts, and clear icons for quick visibility of critical information.</a:t>
            </a:r>
          </a:p>
          <a:p>
            <a:pPr marL="285750" lvl="1" indent="-285750">
              <a:buFont typeface="Wingdings" panose="05000000000000000000" pitchFamily="2" charset="2"/>
              <a:buChar char="q"/>
            </a:pPr>
            <a:r>
              <a:rPr lang="en-US" dirty="0" smtClean="0"/>
              <a:t>Clean layout without clutter to ensure focus on live monitoring and alerts.</a:t>
            </a:r>
          </a:p>
          <a:p>
            <a:r>
              <a:rPr lang="en-US" b="1" dirty="0" smtClean="0"/>
              <a:t>Real-Time Updates</a:t>
            </a:r>
            <a:endParaRPr lang="en-US" dirty="0" smtClean="0"/>
          </a:p>
          <a:p>
            <a:pPr lvl="1"/>
            <a:r>
              <a:rPr lang="en-US" dirty="0" smtClean="0"/>
              <a:t>Frontend communicates with backend using </a:t>
            </a:r>
            <a:r>
              <a:rPr lang="en-US" b="1" dirty="0" smtClean="0"/>
              <a:t>APIs or </a:t>
            </a:r>
            <a:r>
              <a:rPr lang="en-US" b="1" dirty="0" err="1" smtClean="0"/>
              <a:t>WebSockets</a:t>
            </a:r>
            <a:r>
              <a:rPr lang="en-US" dirty="0" smtClean="0"/>
              <a:t>.</a:t>
            </a:r>
          </a:p>
          <a:p>
            <a:pPr lvl="1"/>
            <a:r>
              <a:rPr lang="en-US" dirty="0" smtClean="0"/>
              <a:t>Updates live headcount, recognized individual information, </a:t>
            </a:r>
            <a:r>
              <a:rPr lang="en-US" b="1" dirty="0" smtClean="0"/>
              <a:t>without page refresh</a:t>
            </a:r>
            <a:r>
              <a:rPr lang="en-US" dirty="0" smtClean="0"/>
              <a:t>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886" y="381000"/>
            <a:ext cx="11736857" cy="695960"/>
          </a:xfrm>
        </p:spPr>
        <p:txBody>
          <a:bodyPr/>
          <a:lstStyle/>
          <a:p>
            <a:r>
              <a:rPr lang="en-US" dirty="0" smtClean="0"/>
              <a:t>User Interface</a:t>
            </a:r>
            <a:endParaRPr lang="en-IN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00" y="1676400"/>
            <a:ext cx="5392090" cy="45720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8400" y="1661311"/>
            <a:ext cx="5296451" cy="45870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522069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Dashboard</a:t>
            </a:r>
            <a:endParaRPr lang="en-IN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1524000"/>
            <a:ext cx="11353800" cy="4835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115256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Continue</a:t>
            </a:r>
            <a:endParaRPr lang="en-IN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1524000"/>
            <a:ext cx="6109855" cy="4744628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0800" y="1524000"/>
            <a:ext cx="5563628" cy="47446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003889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40" dirty="0"/>
              <a:t>Testing</a:t>
            </a:r>
            <a:r>
              <a:rPr spc="-180" dirty="0"/>
              <a:t> </a:t>
            </a:r>
            <a:r>
              <a:rPr spc="-10" dirty="0"/>
              <a:t>Plans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360"/>
              </a:lnSpc>
            </a:pPr>
            <a:r>
              <a:rPr dirty="0"/>
              <a:t>Department</a:t>
            </a:r>
            <a:r>
              <a:rPr spc="-40" dirty="0"/>
              <a:t> </a:t>
            </a:r>
            <a:r>
              <a:rPr dirty="0"/>
              <a:t>of</a:t>
            </a:r>
            <a:r>
              <a:rPr spc="-55" dirty="0"/>
              <a:t> </a:t>
            </a:r>
            <a:r>
              <a:rPr spc="-10" dirty="0"/>
              <a:t>Computer</a:t>
            </a:r>
            <a:r>
              <a:rPr spc="-60" dirty="0"/>
              <a:t> </a:t>
            </a:r>
            <a:r>
              <a:rPr spc="-10" dirty="0"/>
              <a:t>Science</a:t>
            </a:r>
          </a:p>
          <a:p>
            <a:pPr algn="ctr">
              <a:lnSpc>
                <a:spcPct val="100000"/>
              </a:lnSpc>
            </a:pPr>
            <a:r>
              <a:rPr spc="-10" dirty="0"/>
              <a:t>Engineering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xfrm>
            <a:off x="911225" y="6612504"/>
            <a:ext cx="1028064" cy="3642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60"/>
              </a:lnSpc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22 Sep 2025</a:t>
            </a:r>
          </a:p>
          <a:p>
            <a:pPr marL="12700">
              <a:lnSpc>
                <a:spcPts val="1360"/>
              </a:lnSpc>
            </a:pPr>
            <a:endParaRPr spc="-20" dirty="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60"/>
              </a:lnSpc>
            </a:pPr>
            <a:fld id="{81D60167-4931-47E6-BA6A-407CBD079E47}" type="slidenum">
              <a:rPr spc="-320" dirty="0"/>
              <a:t>20</a:t>
            </a:fld>
            <a:endParaRPr spc="-320" dirty="0"/>
          </a:p>
        </p:txBody>
      </p:sp>
      <p:sp>
        <p:nvSpPr>
          <p:cNvPr id="9" name="TextBox 8">
            <a:extLst>
              <a:ext uri="{FF2B5EF4-FFF2-40B4-BE49-F238E27FC236}">
                <a16:creationId xmlns="" xmlns:a16="http://schemas.microsoft.com/office/drawing/2014/main" id="{5FE82D4C-FB2A-87CE-E17F-572C15FD3364}"/>
              </a:ext>
            </a:extLst>
          </p:cNvPr>
          <p:cNvSpPr txBox="1"/>
          <p:nvPr/>
        </p:nvSpPr>
        <p:spPr>
          <a:xfrm>
            <a:off x="196638" y="1317551"/>
            <a:ext cx="10570821" cy="5047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/>
              <a:t>To ensure accuracy, reliability, and performance, </a:t>
            </a:r>
            <a:r>
              <a:rPr lang="en-US" dirty="0" smtClean="0"/>
              <a:t>the </a:t>
            </a:r>
            <a:r>
              <a:rPr lang="en-US" b="1" dirty="0" smtClean="0"/>
              <a:t>Drishti</a:t>
            </a:r>
            <a:r>
              <a:rPr lang="en-US" dirty="0" smtClean="0"/>
              <a:t> </a:t>
            </a:r>
            <a:r>
              <a:rPr lang="en-US" dirty="0"/>
              <a:t>will be tested at different levels</a:t>
            </a:r>
            <a:r>
              <a:rPr lang="en-US" dirty="0" smtClean="0"/>
              <a:t>.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b="1" dirty="0"/>
              <a:t>Types of Testing</a:t>
            </a:r>
            <a:r>
              <a:rPr lang="en-US" b="1" dirty="0" smtClean="0"/>
              <a:t>: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b="1" dirty="0" smtClean="0"/>
              <a:t>Unit Testing</a:t>
            </a:r>
            <a:r>
              <a:rPr lang="en-IN" dirty="0" smtClean="0"/>
              <a:t> – Test individual modules such as YOLOv8 person detection, </a:t>
            </a:r>
            <a:r>
              <a:rPr lang="en-IN" dirty="0" err="1" smtClean="0"/>
              <a:t>DeepFace</a:t>
            </a:r>
            <a:r>
              <a:rPr lang="en-IN" dirty="0" smtClean="0"/>
              <a:t> facial recognition, database operations, and API/</a:t>
            </a:r>
            <a:r>
              <a:rPr lang="en-IN" dirty="0" err="1" smtClean="0"/>
              <a:t>WebSocket</a:t>
            </a:r>
            <a:r>
              <a:rPr lang="en-IN" dirty="0" smtClean="0"/>
              <a:t> communication.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b="1" dirty="0" smtClean="0"/>
              <a:t>Integration Testing</a:t>
            </a:r>
            <a:r>
              <a:rPr lang="en-IN" dirty="0" smtClean="0"/>
              <a:t> – Check smooth data flow between modules:</a:t>
            </a:r>
            <a:br>
              <a:rPr lang="en-IN" dirty="0" smtClean="0"/>
            </a:br>
            <a:r>
              <a:rPr lang="en-IN" i="1" dirty="0" smtClean="0"/>
              <a:t>Video Capture → Person Detection → Facial Recognition → Dashboard → Database Logging.</a:t>
            </a:r>
            <a:endParaRPr lang="en-IN" dirty="0" smtClean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b="1" dirty="0" smtClean="0"/>
              <a:t>Performance Testing</a:t>
            </a:r>
            <a:r>
              <a:rPr lang="en-IN" dirty="0" smtClean="0"/>
              <a:t> – Verify real-time processing speed (FPS), AI inference time, and system performance under varying crowd densities.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b="1" dirty="0" smtClean="0"/>
              <a:t>Accuracy Testing</a:t>
            </a:r>
            <a:r>
              <a:rPr lang="en-IN" dirty="0" smtClean="0"/>
              <a:t> – Evaluate detection and recognition accuracy using sample datasets and real-time video feeds.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b="1" dirty="0" smtClean="0"/>
              <a:t>Robustness Testing</a:t>
            </a:r>
            <a:r>
              <a:rPr lang="en-IN" dirty="0" smtClean="0"/>
              <a:t> – Test system under challenging conditions such as low-light, crowded scenes, occluded faces, or camera angle variations.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b="1" dirty="0" smtClean="0"/>
              <a:t>Security &amp; Privacy Testing</a:t>
            </a:r>
            <a:r>
              <a:rPr lang="en-IN" dirty="0" smtClean="0"/>
              <a:t> – Ensure unknown individuals’ data is not stored, secure communication (HTTPS/SSL), and access control for the dashboard.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b="1" dirty="0" smtClean="0"/>
              <a:t>User Acceptance Testing (UAT)</a:t>
            </a:r>
            <a:r>
              <a:rPr lang="en-IN" dirty="0" smtClean="0"/>
              <a:t> – Collect feedback on dashboard usability, and system responsiveness, and make necessary adjustments.</a:t>
            </a:r>
          </a:p>
          <a:p>
            <a:pPr>
              <a:buNone/>
            </a:pPr>
            <a:endParaRPr lang="en-US" sz="16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The</a:t>
            </a:r>
            <a:r>
              <a:rPr spc="-15" dirty="0"/>
              <a:t> </a:t>
            </a:r>
            <a:r>
              <a:rPr spc="-10" dirty="0"/>
              <a:t>Outcome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360"/>
              </a:lnSpc>
            </a:pPr>
            <a:r>
              <a:rPr dirty="0"/>
              <a:t>Department</a:t>
            </a:r>
            <a:r>
              <a:rPr spc="-40" dirty="0"/>
              <a:t> </a:t>
            </a:r>
            <a:r>
              <a:rPr dirty="0"/>
              <a:t>of</a:t>
            </a:r>
            <a:r>
              <a:rPr spc="-55" dirty="0"/>
              <a:t> </a:t>
            </a:r>
            <a:r>
              <a:rPr spc="-10" dirty="0"/>
              <a:t>Computer</a:t>
            </a:r>
            <a:r>
              <a:rPr spc="-60" dirty="0"/>
              <a:t> </a:t>
            </a:r>
            <a:r>
              <a:rPr spc="-10" dirty="0"/>
              <a:t>Science</a:t>
            </a:r>
          </a:p>
          <a:p>
            <a:pPr algn="ctr">
              <a:lnSpc>
                <a:spcPct val="100000"/>
              </a:lnSpc>
            </a:pPr>
            <a:r>
              <a:rPr spc="-10" dirty="0"/>
              <a:t>Engineering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xfrm>
            <a:off x="911225" y="6612504"/>
            <a:ext cx="1028064" cy="3642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60"/>
              </a:lnSpc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22 Sep 2025</a:t>
            </a:r>
          </a:p>
          <a:p>
            <a:pPr marL="12700">
              <a:lnSpc>
                <a:spcPts val="1360"/>
              </a:lnSpc>
            </a:pPr>
            <a:endParaRPr spc="-20" dirty="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60"/>
              </a:lnSpc>
            </a:pPr>
            <a:fld id="{81D60167-4931-47E6-BA6A-407CBD079E47}" type="slidenum">
              <a:rPr spc="-320" dirty="0"/>
              <a:t>21</a:t>
            </a:fld>
            <a:endParaRPr spc="-320" dirty="0"/>
          </a:p>
        </p:txBody>
      </p:sp>
      <p:sp>
        <p:nvSpPr>
          <p:cNvPr id="8" name="TextBox 7">
            <a:extLst>
              <a:ext uri="{FF2B5EF4-FFF2-40B4-BE49-F238E27FC236}">
                <a16:creationId xmlns="" xmlns:a16="http://schemas.microsoft.com/office/drawing/2014/main" id="{C56B0886-F933-0A36-DD3E-56F0E713D211}"/>
              </a:ext>
            </a:extLst>
          </p:cNvPr>
          <p:cNvSpPr txBox="1"/>
          <p:nvPr/>
        </p:nvSpPr>
        <p:spPr>
          <a:xfrm>
            <a:off x="229080" y="1676400"/>
            <a:ext cx="11332821" cy="41242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100" b="1" dirty="0"/>
              <a:t>Expected </a:t>
            </a:r>
            <a:r>
              <a:rPr lang="en-US" sz="2100" b="1" dirty="0" smtClean="0"/>
              <a:t>Outcome of the Project Development :</a:t>
            </a:r>
          </a:p>
          <a:p>
            <a:pPr>
              <a:buNone/>
            </a:pPr>
            <a:endParaRPr lang="en-US" sz="2100" dirty="0" smtClean="0"/>
          </a:p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en-US" sz="2000" b="1" dirty="0" smtClean="0"/>
              <a:t>Real-Time Person Detection:</a:t>
            </a:r>
            <a:r>
              <a:rPr lang="en-US" sz="2000" dirty="0" smtClean="0"/>
              <a:t> Accurately detects and counts individuals in live video feeds.</a:t>
            </a:r>
          </a:p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en-US" sz="2000" b="1" dirty="0" smtClean="0"/>
              <a:t>Facial Recognition:</a:t>
            </a:r>
            <a:r>
              <a:rPr lang="en-US" sz="2000" dirty="0" smtClean="0"/>
              <a:t> Recognizes known individuals while labeling unknown persons as “Unknown” to ensure privacy..</a:t>
            </a:r>
          </a:p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en-US" sz="2000" b="1" dirty="0" smtClean="0"/>
              <a:t>Interactive Dashboard:</a:t>
            </a:r>
            <a:r>
              <a:rPr lang="en-US" sz="2000" dirty="0" smtClean="0"/>
              <a:t> Displays live video, headcount, recognized faces, alerts, and historical logs for efficient monitoring.</a:t>
            </a:r>
          </a:p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en-US" sz="2000" b="1" dirty="0" smtClean="0"/>
              <a:t>Automated Monitoring:</a:t>
            </a:r>
            <a:r>
              <a:rPr lang="en-US" sz="2000" dirty="0" smtClean="0"/>
              <a:t> Reduces the need for manual supervision and enhances operational efficiency.</a:t>
            </a:r>
          </a:p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en-US" sz="2000" b="1" dirty="0" smtClean="0"/>
              <a:t>Data-Driven Insights:</a:t>
            </a:r>
            <a:r>
              <a:rPr lang="en-US" sz="2000" dirty="0" smtClean="0"/>
              <a:t> Historical logs and headcount statistics support better decision-making and crowd management.</a:t>
            </a:r>
          </a:p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en-US" sz="2000" b="1" dirty="0" smtClean="0"/>
              <a:t>Enhanced Safety &amp; Security:</a:t>
            </a:r>
            <a:r>
              <a:rPr lang="en-US" sz="2000" dirty="0" smtClean="0"/>
              <a:t> Provides a reliable, real-time surveillance system suitable for offices, campuses, labs, and small public spaces.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2D2F5592-E74E-05C6-DC5B-8E563A1170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="" xmlns:a16="http://schemas.microsoft.com/office/drawing/2014/main" id="{B49312EA-7569-6678-D394-363FE984BD4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Conclusion</a:t>
            </a:r>
          </a:p>
        </p:txBody>
      </p:sp>
      <p:sp>
        <p:nvSpPr>
          <p:cNvPr id="4" name="object 4">
            <a:extLst>
              <a:ext uri="{FF2B5EF4-FFF2-40B4-BE49-F238E27FC236}">
                <a16:creationId xmlns="" xmlns:a16="http://schemas.microsoft.com/office/drawing/2014/main" id="{5FDAC632-38B5-5994-EECE-7123531D3B3E}"/>
              </a:ext>
            </a:extLst>
          </p:cNvPr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360"/>
              </a:lnSpc>
            </a:pPr>
            <a:r>
              <a:rPr dirty="0"/>
              <a:t>Department</a:t>
            </a:r>
            <a:r>
              <a:rPr spc="-40" dirty="0"/>
              <a:t> </a:t>
            </a:r>
            <a:r>
              <a:rPr dirty="0"/>
              <a:t>of</a:t>
            </a:r>
            <a:r>
              <a:rPr spc="-55" dirty="0"/>
              <a:t> </a:t>
            </a:r>
            <a:r>
              <a:rPr spc="-10" dirty="0"/>
              <a:t>Computer</a:t>
            </a:r>
            <a:r>
              <a:rPr spc="-60" dirty="0"/>
              <a:t> </a:t>
            </a:r>
            <a:r>
              <a:rPr spc="-10" dirty="0"/>
              <a:t>Science</a:t>
            </a:r>
          </a:p>
          <a:p>
            <a:pPr algn="ctr">
              <a:lnSpc>
                <a:spcPct val="100000"/>
              </a:lnSpc>
            </a:pPr>
            <a:r>
              <a:rPr spc="-10" dirty="0"/>
              <a:t>Engineering</a:t>
            </a:r>
          </a:p>
        </p:txBody>
      </p:sp>
      <p:sp>
        <p:nvSpPr>
          <p:cNvPr id="5" name="object 5">
            <a:extLst>
              <a:ext uri="{FF2B5EF4-FFF2-40B4-BE49-F238E27FC236}">
                <a16:creationId xmlns="" xmlns:a16="http://schemas.microsoft.com/office/drawing/2014/main" id="{D7B825A1-96FE-C153-88D2-C418F970239E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911225" y="6612504"/>
            <a:ext cx="1028064" cy="3642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60"/>
              </a:lnSpc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22 Sep 2025</a:t>
            </a:r>
          </a:p>
          <a:p>
            <a:pPr marL="12700">
              <a:lnSpc>
                <a:spcPts val="1360"/>
              </a:lnSpc>
            </a:pPr>
            <a:endParaRPr spc="-20" dirty="0"/>
          </a:p>
        </p:txBody>
      </p:sp>
      <p:sp>
        <p:nvSpPr>
          <p:cNvPr id="6" name="object 6">
            <a:extLst>
              <a:ext uri="{FF2B5EF4-FFF2-40B4-BE49-F238E27FC236}">
                <a16:creationId xmlns="" xmlns:a16="http://schemas.microsoft.com/office/drawing/2014/main" id="{1D914D64-4A03-28CE-892E-F643853583C1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60"/>
              </a:lnSpc>
            </a:pPr>
            <a:fld id="{81D60167-4931-47E6-BA6A-407CBD079E47}" type="slidenum">
              <a:rPr spc="-320" dirty="0"/>
              <a:t>22</a:t>
            </a:fld>
            <a:endParaRPr spc="-320" dirty="0"/>
          </a:p>
        </p:txBody>
      </p:sp>
      <p:sp>
        <p:nvSpPr>
          <p:cNvPr id="3" name="object 3">
            <a:extLst>
              <a:ext uri="{FF2B5EF4-FFF2-40B4-BE49-F238E27FC236}">
                <a16:creationId xmlns="" xmlns:a16="http://schemas.microsoft.com/office/drawing/2014/main" id="{3D369271-FBA6-EC80-A99B-0CED09C6935D}"/>
              </a:ext>
            </a:extLst>
          </p:cNvPr>
          <p:cNvSpPr txBox="1"/>
          <p:nvPr/>
        </p:nvSpPr>
        <p:spPr>
          <a:xfrm>
            <a:off x="227571" y="1447800"/>
            <a:ext cx="11736858" cy="444480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sz="2400" dirty="0" smtClean="0"/>
              <a:t>Drishti is an AI-based smart surveillance system that effectively integrates real-time person detection using YOLOv8 and facial recognition using </a:t>
            </a:r>
            <a:r>
              <a:rPr lang="en-US" sz="2400" dirty="0" err="1" smtClean="0"/>
              <a:t>DeepFace</a:t>
            </a:r>
            <a:r>
              <a:rPr lang="en-US" sz="2400" dirty="0" smtClean="0"/>
              <a:t> to provide efficient and intelligent monitoring. The system automatically counts individuals, manages crowd density, and identifies known persons while labeling unknown individuals as “Unknown,” ensuring privacy protection. Its interactive, web-based dashboard allows security personnel to monitor live video feeds, receive alerts, and access historical logs in real time, improving decision-making and operational efficiency. Designed with a modular and scalable architecture, Drishti is capable of future enhancements such as multi-camera support, cloud integration, and mobile notifications. Overall, it offers a reliable, privacy-conscious, and automated surveillance solution suitable for offices, campuses, labs, and small public spaces, laying the groundwork for advanced smart city security applications.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94415641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444344" y="1767751"/>
            <a:ext cx="5303520" cy="3073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0" b="1" spc="-1065" dirty="0">
                <a:solidFill>
                  <a:srgbClr val="6C9BC1"/>
                </a:solidFill>
                <a:latin typeface="Arial"/>
                <a:cs typeface="Arial"/>
              </a:rPr>
              <a:t>Q&amp;A</a:t>
            </a:r>
            <a:endParaRPr sz="200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360"/>
              </a:lnSpc>
            </a:pPr>
            <a:r>
              <a:rPr dirty="0"/>
              <a:t>Department</a:t>
            </a:r>
            <a:r>
              <a:rPr spc="-40" dirty="0"/>
              <a:t> </a:t>
            </a:r>
            <a:r>
              <a:rPr dirty="0"/>
              <a:t>of</a:t>
            </a:r>
            <a:r>
              <a:rPr spc="-55" dirty="0"/>
              <a:t> </a:t>
            </a:r>
            <a:r>
              <a:rPr spc="-10" dirty="0"/>
              <a:t>Computer</a:t>
            </a:r>
            <a:r>
              <a:rPr spc="-60" dirty="0"/>
              <a:t> </a:t>
            </a:r>
            <a:r>
              <a:rPr spc="-10" dirty="0"/>
              <a:t>Science</a:t>
            </a:r>
          </a:p>
          <a:p>
            <a:pPr algn="ctr">
              <a:lnSpc>
                <a:spcPct val="100000"/>
              </a:lnSpc>
            </a:pPr>
            <a:r>
              <a:rPr spc="-10" dirty="0"/>
              <a:t>Engineering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xfrm>
            <a:off x="911225" y="6612504"/>
            <a:ext cx="1028064" cy="3642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60"/>
              </a:lnSpc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22 Sep 2025</a:t>
            </a:r>
          </a:p>
          <a:p>
            <a:pPr marL="12700">
              <a:lnSpc>
                <a:spcPts val="1360"/>
              </a:lnSpc>
            </a:pPr>
            <a:endParaRPr spc="-20" dirty="0"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60"/>
              </a:lnSpc>
            </a:pPr>
            <a:fld id="{81D60167-4931-47E6-BA6A-407CBD079E47}" type="slidenum">
              <a:rPr spc="-320" dirty="0"/>
              <a:t>23</a:t>
            </a:fld>
            <a:endParaRPr spc="-32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05748" y="1767751"/>
            <a:ext cx="9580880" cy="3073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0" spc="-1400" dirty="0">
                <a:solidFill>
                  <a:srgbClr val="6C9BC1"/>
                </a:solidFill>
                <a:latin typeface="Arial"/>
                <a:cs typeface="Arial"/>
              </a:rPr>
              <a:t>THANKS</a:t>
            </a:r>
            <a:endParaRPr sz="200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dt" sz="half" idx="6"/>
          </p:nvPr>
        </p:nvSpPr>
        <p:spPr>
          <a:xfrm>
            <a:off x="4771491" y="6521064"/>
            <a:ext cx="2235834" cy="3771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360"/>
              </a:lnSpc>
            </a:pPr>
            <a:r>
              <a:rPr dirty="0"/>
              <a:t>Department</a:t>
            </a:r>
            <a:r>
              <a:rPr spc="-40" dirty="0"/>
              <a:t> </a:t>
            </a:r>
            <a:r>
              <a:rPr dirty="0"/>
              <a:t>of</a:t>
            </a:r>
            <a:r>
              <a:rPr spc="-55" dirty="0"/>
              <a:t> </a:t>
            </a:r>
            <a:r>
              <a:rPr spc="-10" dirty="0"/>
              <a:t>Computer</a:t>
            </a:r>
            <a:r>
              <a:rPr spc="-60" dirty="0"/>
              <a:t> </a:t>
            </a:r>
            <a:r>
              <a:rPr spc="-10" dirty="0"/>
              <a:t>Science</a:t>
            </a:r>
          </a:p>
          <a:p>
            <a:pPr algn="ctr">
              <a:lnSpc>
                <a:spcPct val="100000"/>
              </a:lnSpc>
            </a:pPr>
            <a:r>
              <a:rPr spc="-10" dirty="0"/>
              <a:t>Engineering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xfrm>
            <a:off x="911225" y="6612504"/>
            <a:ext cx="1028064" cy="3642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60"/>
              </a:lnSpc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22 Sep 2025</a:t>
            </a:r>
          </a:p>
          <a:p>
            <a:pPr marL="12700">
              <a:lnSpc>
                <a:spcPts val="1360"/>
              </a:lnSpc>
            </a:pPr>
            <a:endParaRPr spc="-20" dirty="0"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xfrm>
            <a:off x="9883293" y="6612504"/>
            <a:ext cx="211454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60"/>
              </a:lnSpc>
            </a:pPr>
            <a:fld id="{81D60167-4931-47E6-BA6A-407CBD079E47}" type="slidenum">
              <a:rPr spc="-320" dirty="0"/>
              <a:t>24</a:t>
            </a:fld>
            <a:endParaRPr spc="-32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570</TotalTime>
  <Words>1551</Words>
  <Application>Microsoft Office PowerPoint</Application>
  <PresentationFormat>Widescreen</PresentationFormat>
  <Paragraphs>250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1" baseType="lpstr">
      <vt:lpstr>Arial</vt:lpstr>
      <vt:lpstr>Arial Black</vt:lpstr>
      <vt:lpstr>Calibri</vt:lpstr>
      <vt:lpstr>Mangal</vt:lpstr>
      <vt:lpstr>Segoe UI Symbol</vt:lpstr>
      <vt:lpstr>Wingdings</vt:lpstr>
      <vt:lpstr>Office Theme</vt:lpstr>
      <vt:lpstr>Acropolis Institute of Technology &amp; Research, Indore</vt:lpstr>
      <vt:lpstr>PowerPoint Presentation</vt:lpstr>
      <vt:lpstr>PowerPoint Presentation</vt:lpstr>
      <vt:lpstr>Project Presentation Outline</vt:lpstr>
      <vt:lpstr>Introduction</vt:lpstr>
      <vt:lpstr>The Problem Statement</vt:lpstr>
      <vt:lpstr>Survey of Existing Systems</vt:lpstr>
      <vt:lpstr>Objectives</vt:lpstr>
      <vt:lpstr>Requirement Analysis</vt:lpstr>
      <vt:lpstr>Continue</vt:lpstr>
      <vt:lpstr>Solution Proposed</vt:lpstr>
      <vt:lpstr>Features</vt:lpstr>
      <vt:lpstr>Features</vt:lpstr>
      <vt:lpstr>System Architecture</vt:lpstr>
      <vt:lpstr>System Architecture Diagram </vt:lpstr>
      <vt:lpstr>User Interface</vt:lpstr>
      <vt:lpstr>User Interface</vt:lpstr>
      <vt:lpstr>Dashboard</vt:lpstr>
      <vt:lpstr>Continue</vt:lpstr>
      <vt:lpstr>Testing Plans</vt:lpstr>
      <vt:lpstr>The Outcome</vt:lpstr>
      <vt:lpstr>Conclusion</vt:lpstr>
      <vt:lpstr>PowerPoint Presentation</vt:lpstr>
      <vt:lpstr>THANKS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Synopsis_presentation_format.pptx</dc:title>
  <dc:creator>win</dc:creator>
  <cp:lastModifiedBy>Microsoft account</cp:lastModifiedBy>
  <cp:revision>45</cp:revision>
  <dcterms:created xsi:type="dcterms:W3CDTF">2025-03-28T15:59:54Z</dcterms:created>
  <dcterms:modified xsi:type="dcterms:W3CDTF">2025-10-05T09:34:17Z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2025-03-28T00:00:00Z</vt:filetime>
  </property>
  <property fmtid="{D5CDD505-2E9C-101B-9397-08002B2CF9AE}" pid="3" name="Creator">
    <vt:lpwstr>Google</vt:lpwstr>
  </property>
  <property fmtid="{D5CDD505-2E9C-101B-9397-08002B2CF9AE}" pid="4" name="LastSaved">
    <vt:filetime>2025-03-28T00:00:00Z</vt:filetime>
  </property>
</Properties>
</file>